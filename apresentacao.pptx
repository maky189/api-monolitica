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1600" b="1" i="0">
                <a:solidFill>
                  <a:srgbClr val="2E86DE"/>
                </a:solidFill>
                <a:latin typeface="Calibri"/>
              </a:rPr>
              <a:t>UNIVERSIDADE DO MINDELO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De Microserviços a Escala e Segurança</a:t>
            </a:r>
          </a:p>
          <a:p>
            <a:pPr algn="ctr">
              <a:spcBef>
                <a:spcPts val="1000"/>
              </a:spcBef>
            </a:pPr>
            <a:r>
              <a:rPr sz="2200" b="0" i="0">
                <a:solidFill>
                  <a:srgbClr val="B8C4D9"/>
                </a:solidFill>
                <a:latin typeface="Calibri"/>
              </a:rPr>
              <a:t>Trabalho 02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1800" b="0" i="0">
                <a:solidFill>
                  <a:srgbClr val="D5DDEA"/>
                </a:solidFill>
                <a:latin typeface="Calibri"/>
              </a:rPr>
              <a:t>Escalabilidade horizontal · Testes de desempenho · Segurança</a:t>
            </a:r>
          </a:p>
          <a:p>
            <a:pPr algn="ctr">
              <a:spcBef>
                <a:spcPts val="1400"/>
              </a:spcBef>
            </a:pPr>
            <a:r>
              <a:rPr sz="1500" b="0" i="0">
                <a:solidFill>
                  <a:srgbClr val="555F6E"/>
                </a:solidFill>
                <a:latin typeface="Calibri"/>
              </a:rPr>
              <a:t>Repositório: API-monolitica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555F6E"/>
                </a:solidFill>
                <a:latin typeface="Calibri"/>
              </a:rPr>
              <a:t>Stack: Python · Flask · Gunicorn · SQLAlchemy · Postgres · Docker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projeto em duas partes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49240" cy="640080"/>
          </a:xfrm>
          <a:prstGeom prst="rect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PARTE 1  —  Arquiteturas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937760" cy="3474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Apresentação da arquitetura monolítica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Apresentação da arquitetura de microserviços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Comunicação por HTTP real (Flask + Requests)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Comparação conceptual entre as abordagens</a:t>
            </a:r>
          </a:p>
          <a:p>
            <a:pPr algn="l">
              <a:spcBef>
                <a:spcPts val="1200"/>
              </a:spcBef>
            </a:pPr>
            <a:r>
              <a:rPr sz="1500" b="0" i="1">
                <a:solidFill>
                  <a:srgbClr val="555F6E"/>
                </a:solidFill>
                <a:latin typeface="Calibri"/>
              </a:rPr>
              <a:t>Foco: entender cada arquitetura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4924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8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PARTE 2  —  Esta apresentação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937760" cy="34747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86DE"/>
                </a:solidFill>
                <a:latin typeface="Calibri"/>
              </a:rPr>
              <a:t>•  Remove o monólito — só microserviços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Escala horizontal: réplicas + load balancer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Testes de carga e análise de desempenho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Segurança: JWT, rate limit, headers, tokens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F2A44"/>
                </a:solidFill>
                <a:latin typeface="Calibri"/>
              </a:rPr>
              <a:t>•  Persistência e idempotência em Postgres</a:t>
            </a:r>
          </a:p>
          <a:p>
            <a:pPr algn="l">
              <a:spcBef>
                <a:spcPts val="1200"/>
              </a:spcBef>
            </a:pPr>
            <a:r>
              <a:rPr sz="1500" b="0" i="1">
                <a:solidFill>
                  <a:srgbClr val="2E86DE"/>
                </a:solidFill>
                <a:latin typeface="Calibri"/>
              </a:rPr>
              <a:t>Foco: desempenho sob carga e segurança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Microserviços independentes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0" i="0">
                <a:solidFill>
                  <a:srgbClr val="555F6E"/>
                </a:solidFill>
                <a:latin typeface="Calibri"/>
              </a:rPr>
              <a:t>Cinco serviços + base de dados, orquestrados por Docker Compose.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2194560" cy="914400"/>
          </a:xfrm>
          <a:prstGeom prst="rect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39112"/>
            <a:ext cx="219456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Cliente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navegador / curl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20240"/>
            <a:ext cx="2377440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039112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Gateway :5000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JWT · rate limit · headers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154680"/>
            <a:ext cx="237744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273552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Auth :5002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emite JWT · hash pw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20240"/>
            <a:ext cx="2377440" cy="9144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039112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Order :5001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round-robin · retries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154680"/>
            <a:ext cx="2377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273552"/>
            <a:ext cx="237744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Postgres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orders · idempotency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00200"/>
            <a:ext cx="26517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719072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payment-1 :5003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stateless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697480"/>
            <a:ext cx="26517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816352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payment-2 :5003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stateless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3794760"/>
            <a:ext cx="26517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913632"/>
            <a:ext cx="2651760" cy="82296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payment-3 :5003</a:t>
            </a:r>
          </a:p>
          <a:p>
            <a:pPr algn="ctr"/>
            <a:r>
              <a:rPr sz="1100" b="0" i="0">
                <a:solidFill>
                  <a:srgbClr val="E5EEF7"/>
                </a:solidFill>
                <a:latin typeface="Calibri"/>
              </a:rPr>
              <a:t>stateless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Só o Gateway é exposto ao exterior; tudo o resto comunica na rede interna.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Order Service distribui pagamentos por round-robin entre as 3 réplicas (timeout curto + 3 retries com backoff).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Estado partilhado fica no Postgres — vários workers, zero corridas.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Escala: vertical vs horizontal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Escala vertical (processo)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Gunicorn como WSGI de produção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Vários workers por container (-w 4)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Limite: teto físico da máquina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49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86DE"/>
                </a:solidFill>
                <a:latin typeface="Calibri"/>
              </a:rPr>
              <a:t>Escala horizontal (serviço)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3 réplicas do Payment Service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Load balancer round-robin no Order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7AE60"/>
                </a:solidFill>
                <a:latin typeface="Calibri"/>
              </a:rPr>
              <a:t>•  Tolerância a falhas: retry vai p/ outra réplica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555F6E"/>
                </a:solidFill>
                <a:latin typeface="Calibri"/>
              </a:rPr>
              <a:t>Load balancer round-robin (itertools.cycle protegido por lock):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69080"/>
            <a:ext cx="11091672" cy="14630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0607040" cy="12801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8BE9FD"/>
                </a:solidFill>
                <a:latin typeface="Consolas"/>
              </a:rPr>
              <a:t>PAYMENT_SERVICE_URLS = payment1, payment2, payment3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def _next_payment_url():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    with _rr_lock:</a:t>
            </a:r>
          </a:p>
          <a:p>
            <a:pPr algn="l"/>
            <a:r>
              <a:rPr sz="1400" b="0" i="0">
                <a:solidFill>
                  <a:srgbClr val="50FA7B"/>
                </a:solidFill>
                <a:latin typeface="Consolas"/>
              </a:rPr>
              <a:t>        return next(_rr_cycle)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Resiliência: cada chamada de pagamento vai com timeout curto + 3 tentativas com backoff exponencial (tenacity).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Testes de carga (loadtest.py)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0" i="0">
                <a:solidFill>
                  <a:srgbClr val="555F6E"/>
                </a:solidFill>
                <a:latin typeface="Calibri"/>
              </a:rPr>
              <a:t>Dispara N requisições com M workers concorrentes contra POST /api/orders e mede latência, throughput e distribuição por réplica.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1672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106070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 i="0">
                <a:solidFill>
                  <a:srgbClr val="50FA7B"/>
                </a:solidFill>
                <a:latin typeface="Consolas"/>
              </a:rPr>
              <a:t>python loadtest.py -n 100 -c 10     # baseline</a:t>
            </a:r>
          </a:p>
          <a:p>
            <a:pPr algn="l"/>
            <a:r>
              <a:rPr sz="1500" b="0" i="0">
                <a:solidFill>
                  <a:srgbClr val="50FA7B"/>
                </a:solidFill>
                <a:latin typeface="Consolas"/>
              </a:rPr>
              <a:t>python loadtest.py -n 500 -c 100    #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Métricas recolhidas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486400" cy="2286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Latência: min, média, mediana, p95, p99, máx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Throughput (req/s) e taxa de sucesso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Distribuição de códigos HTTP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6DE"/>
                </a:solidFill>
                <a:latin typeface="Calibri"/>
              </a:rPr>
              <a:t>•  Contagem de respostas por instância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918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Calibri"/>
              </a:rPr>
              <a:t>Como ler os 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5212080" cy="2286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Erros / não-200 → saturação de workers ou timeouts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Throughput em plateau → atingiu o gargalo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A44"/>
                </a:solidFill>
                <a:latin typeface="Calibri"/>
              </a:rPr>
              <a:t>•  p95/p99 &gt;&gt; mediana → latência de cauda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7AE60"/>
                </a:solidFill>
                <a:latin typeface="Calibri"/>
              </a:rPr>
              <a:t>•  3 réplicas com contagens ~iguais → round-robin 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Demonstração: com vs sem escala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4924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SEM escala (1 réplica)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498348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150" b="0" i="0">
                <a:solidFill>
                  <a:srgbClr val="8BE9FD"/>
                </a:solidFill>
                <a:latin typeface="Consolas"/>
              </a:rPr>
              <a:t>PAYMENT_SERVICE_URLS=...payment1 \</a:t>
            </a:r>
          </a:p>
          <a:p>
            <a:pPr algn="l"/>
            <a:r>
              <a:rPr sz="1150" b="0" i="0">
                <a:solidFill>
                  <a:srgbClr val="FFFFFF"/>
                </a:solidFill>
                <a:latin typeface="Consolas"/>
              </a:rPr>
              <a:t>  docker compose up --build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Uma só instância absorve todos os pagamentos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•  Throughput cai e p95/p99 disparam sob carga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349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349240" cy="594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 escala (3 réplicas)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331720"/>
            <a:ext cx="498348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487168"/>
            <a:ext cx="475488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0" i="0">
                <a:solidFill>
                  <a:srgbClr val="50FA7B"/>
                </a:solidFill>
                <a:latin typeface="Consolas"/>
              </a:rPr>
              <a:t>docker compose up --build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08960"/>
            <a:ext cx="493776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3 instâncias absorvem em paralelo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7AE60"/>
                </a:solidFill>
                <a:latin typeface="Calibri"/>
              </a:rPr>
              <a:t>•  Throughput estável e p95/p99 menores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11091672" cy="1920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15600" cy="17373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86DE"/>
                </a:solidFill>
                <a:latin typeface="Calibri"/>
              </a:rPr>
              <a:t>Conclusão da demonstração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Distribuir a chamada síncrona de pagamento por várias réplicas remove o ponto único de processamento. O bloco "distribuição por instância" do load test confirma que o round-robin reparte o tráfego — e o cenário escalado mantém o throughput estável quando a concorrência aumenta.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Camadas de defesa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93192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393192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417320"/>
            <a:ext cx="3227832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72184"/>
            <a:ext cx="3749039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Risco / Camada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472184"/>
            <a:ext cx="3749039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Mecanismo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472184"/>
            <a:ext cx="3044951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Autenticação do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6596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JWT HS256 com expiração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Auth emite · Gateway valida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11091672" cy="566928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32888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Credenciais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32888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Hash de password (werkzeug)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532888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Auth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99816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Serviço-a-serviço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099816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X-Internal-Token partilhado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099816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Order &amp; Payment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75304"/>
            <a:ext cx="11091672" cy="566928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66744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Abuso / brute 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666744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Rate limiting (Flask-Limiter)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666744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Gateway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42232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33672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Hardening HTTP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33672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Security headers + CORS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233672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09160"/>
            <a:ext cx="11091672" cy="566928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80060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Entrada maliciosa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80060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Validação + MAX_CONTENT_LENGTH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800600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Gateway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76088"/>
            <a:ext cx="1109167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67528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Duplicação sob retry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367528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Idempotency-Key + 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5367528"/>
            <a:ext cx="301752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 i="0">
                <a:solidFill>
                  <a:srgbClr val="2E86DE"/>
                </a:solidFill>
                <a:latin typeface="Calibri"/>
              </a:rPr>
              <a:t>Order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Fluxo de autenticação (JWT + token interno)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7724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73351"/>
            <a:ext cx="7772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08760"/>
            <a:ext cx="101772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81912"/>
            <a:ext cx="987552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Cliente → Auth  —  </a:t>
            </a:r>
            <a:r>
              <a:rPr sz="1400" b="0" i="0">
                <a:solidFill>
                  <a:srgbClr val="555F6E"/>
                </a:solidFill>
                <a:latin typeface="Calibri"/>
              </a:rPr>
              <a:t>POST /auth/token com username/password. Password verificada contra hash.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777240" cy="777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7772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441448"/>
            <a:ext cx="101772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514600"/>
            <a:ext cx="987552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Auth → Cliente  —  </a:t>
            </a:r>
            <a:r>
              <a:rPr sz="1400" b="0" i="0">
                <a:solidFill>
                  <a:srgbClr val="555F6E"/>
                </a:solidFill>
                <a:latin typeface="Calibri"/>
              </a:rPr>
              <a:t>Devolve JWT assinado (HS256) com expiração configurável.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74136"/>
            <a:ext cx="77724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7772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374136"/>
            <a:ext cx="101772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447288"/>
            <a:ext cx="987552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Cliente → Gateway  —  </a:t>
            </a:r>
            <a:r>
              <a:rPr sz="1400" b="0" i="0">
                <a:solidFill>
                  <a:srgbClr val="555F6E"/>
                </a:solidFill>
                <a:latin typeface="Calibri"/>
              </a:rPr>
              <a:t>POST /api/orders com Authorization: Bearer &lt;JWT&gt;. Gateway valida assinatura e expiração.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06824"/>
            <a:ext cx="777240" cy="777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71416"/>
            <a:ext cx="7772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306824"/>
            <a:ext cx="101772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79976"/>
            <a:ext cx="987552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Gateway → Order  —  </a:t>
            </a:r>
            <a:r>
              <a:rPr sz="1400" b="0" i="0">
                <a:solidFill>
                  <a:srgbClr val="555F6E"/>
                </a:solidFill>
                <a:latin typeface="Calibri"/>
              </a:rPr>
              <a:t>Injeta X-Internal-Token. Order só aceita chamadas com o token interno correto (403 caso contrário).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39512"/>
            <a:ext cx="77724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04104"/>
            <a:ext cx="77724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5239512"/>
            <a:ext cx="101772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5312664"/>
            <a:ext cx="987552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Order → Payment  —  </a:t>
            </a:r>
            <a:r>
              <a:rPr sz="1400" b="0" i="0">
                <a:solidFill>
                  <a:srgbClr val="555F6E"/>
                </a:solidFill>
                <a:latin typeface="Calibri"/>
              </a:rPr>
              <a:t>Mesma autenticação interna entre Order e Payment. Rede fechada ao exterior.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Testes automatizados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49240" cy="594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Unitários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937760" cy="32918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55F6E"/>
                </a:solidFill>
                <a:latin typeface="Consolas"/>
              </a:rPr>
              <a:t>tests/test_order_service.py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Mock de _call_payment + SQLite em memória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Pagamento aprovado / rejeitado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Falha do pagamento → UNKNOWN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Token interno em falta / errado → 403</a:t>
            </a:r>
          </a:p>
          <a:p>
            <a:pPr algn="l">
              <a:spcBef>
                <a:spcPts val="1000"/>
              </a:spcBef>
            </a:pPr>
            <a:r>
              <a:rPr sz="1300" b="0" i="1">
                <a:solidFill>
                  <a:srgbClr val="2E86DE"/>
                </a:solidFill>
                <a:latin typeface="Calibri"/>
              </a:rPr>
              <a:t>Rápidos, sem servidores a correr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49240" cy="594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Integração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937760" cy="32918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55F6E"/>
                </a:solidFill>
                <a:latin typeface="Consolas"/>
              </a:rPr>
              <a:t>tests/test_integration.py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HTTP real contra a stack (docker compose up)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Fluxo completo aprovado / rejeitado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Sem token / token inválido → 401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Cabeçalhos de segurança presentes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A44"/>
                </a:solidFill>
                <a:latin typeface="Calibri"/>
              </a:rPr>
              <a:t>•  Idempotência (mesma key → mesmo pedido)</a:t>
            </a:r>
          </a:p>
          <a:p>
            <a:pPr algn="l">
              <a:spcBef>
                <a:spcPts val="1000"/>
              </a:spcBef>
            </a:pPr>
            <a:r>
              <a:rPr sz="1300" b="0" i="1">
                <a:solidFill>
                  <a:srgbClr val="27AE60"/>
                </a:solidFill>
                <a:latin typeface="Calibri"/>
              </a:rPr>
              <a:t>Validam o sistema ponta-a-ponta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 i="0">
                <a:solidFill>
                  <a:srgbClr val="2E86DE"/>
                </a:solidFill>
                <a:latin typeface="Calibri"/>
              </a:rPr>
              <a:t>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Monólito vs Microserviços escalados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1463040"/>
            <a:ext cx="4297680" cy="502920"/>
          </a:xfrm>
          <a:prstGeom prst="rect">
            <a:avLst/>
          </a:prstGeom>
          <a:solidFill>
            <a:srgbClr val="555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463040"/>
            <a:ext cx="4416552" cy="5029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Critério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36192"/>
            <a:ext cx="4114800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Monólito (1 processo)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536192"/>
            <a:ext cx="4233672" cy="3657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Microserviços escalados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96596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965960"/>
            <a:ext cx="4416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75688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Escalabilidade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075688"/>
            <a:ext cx="406908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Só escala verticalmente; limitada ao processo único.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075688"/>
            <a:ext cx="416052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Cada serviço escala de forma independente.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2377440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2926080"/>
            <a:ext cx="4297680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926080"/>
            <a:ext cx="4416552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35808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Complexidade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035808"/>
            <a:ext cx="406908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Muito baixa: um deploy, um 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035808"/>
            <a:ext cx="416052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Maior: réplicas, balanceador, Postgres, idempotência.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388620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0" y="3886200"/>
            <a:ext cx="441655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95928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995928"/>
            <a:ext cx="406908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Boa em baixa carga; cai quando o pagamento bloqueia.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995928"/>
            <a:ext cx="416052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Throughput agregado maior; melhor p95/p99 sob carga.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2377440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4846320"/>
            <a:ext cx="4297680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4846320"/>
            <a:ext cx="4416552" cy="960120"/>
          </a:xfrm>
          <a:prstGeom prst="rect">
            <a:avLst/>
          </a:prstGeom>
          <a:solidFill>
            <a:srgbClr val="ECF1F7"/>
          </a:solidFill>
          <a:ln w="12700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56048"/>
            <a:ext cx="219456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Resiliência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956048"/>
            <a:ext cx="406908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555F6E"/>
                </a:solidFill>
                <a:latin typeface="Calibri"/>
              </a:rPr>
              <a:t>Frágil: uma falha derruba tudo.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956048"/>
            <a:ext cx="4160520" cy="9601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 i="0">
                <a:solidFill>
                  <a:srgbClr val="1F2A44"/>
                </a:solidFill>
                <a:latin typeface="Calibri"/>
              </a:rPr>
              <a:t>Retry reencaminha; queda de uma réplica não derruba.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0" i="0">
                <a:solidFill>
                  <a:srgbClr val="C9D3E3"/>
                </a:solidFill>
                <a:latin typeface="Calibri"/>
              </a:rPr>
              <a:t>Cada intervenção resolveu um gargalo concreto — escala e segurança construídas de forma incremental.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Gunicorn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deixar de servir requisições uma a uma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Postgres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tirar o estado de memória, remover corridas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79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Round-robin + réplicas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deixar de ter um ponto único de pagamento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6636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Timeout + retries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não propagar lentidão nem falhas ao cliente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28600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Idempotência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retries não duplicam pedidos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24612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JWT + token interno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autenticar cliente e blindar a rede interna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206240"/>
            <a:ext cx="5074920" cy="822960"/>
          </a:xfrm>
          <a:prstGeom prst="rect">
            <a:avLst/>
          </a:prstGeom>
          <a:solidFill>
            <a:srgbClr val="2A3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79"/>
            <a:ext cx="4754880" cy="685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 i="0">
                <a:solidFill>
                  <a:srgbClr val="2E86DE"/>
                </a:solidFill>
                <a:latin typeface="Calibri"/>
              </a:rPr>
              <a:t>Rate limit + headers</a:t>
            </a:r>
          </a:p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mitigar abuso e endurecer o 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6172200"/>
            <a:ext cx="507492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50" b="0" i="1">
                <a:solidFill>
                  <a:srgbClr val="555F6E"/>
                </a:solidFill>
                <a:latin typeface="Calibri"/>
              </a:rPr>
              <a:t>Próximo gargalo: a base de dados (nó vertical) e o balanceador embutido — passos naturais: nginx/HAProxy + réplicas de 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