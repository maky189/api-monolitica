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"/>
  </p:notesMasterIdLst>
  <p:sldIdLst>
    <p:sldId id="256" r:id="rId3"/>
    <p:sldId id="257" r:id="rId4"/>
    <p:sldId id="258" r:id="rId5"/>
    <p:sldId id="267" r:id="rId6"/>
    <p:sldId id="268" r:id="rId8"/>
    <p:sldId id="269" r:id="rId9"/>
    <p:sldId id="259" r:id="rId10"/>
    <p:sldId id="261" r:id="rId11"/>
    <p:sldId id="270" r:id="rId12"/>
    <p:sldId id="271" r:id="rId13"/>
    <p:sldId id="260" r:id="rId14"/>
    <p:sldId id="272" r:id="rId15"/>
    <p:sldId id="273" r:id="rId16"/>
    <p:sldId id="262" r:id="rId17"/>
    <p:sldId id="263" r:id="rId18"/>
    <p:sldId id="264" r:id="rId19"/>
    <p:sldId id="265" r:id="rId20"/>
    <p:sldId id="266" r:id="rId2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70B395-2DD1-4E0C-AD7F-C33E717CE14B}" type="datetimeFigureOut">
              <a:rPr lang="pt-BR" smtClean="0"/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Editar estilos de texto Mestre</a:t>
            </a:r>
            <a:endParaRPr lang="pt-BR" smtClean="0"/>
          </a:p>
          <a:p>
            <a:pPr lvl="1"/>
            <a:r>
              <a:rPr lang="pt-BR" smtClean="0"/>
              <a:t>Segundo nível</a:t>
            </a:r>
            <a:endParaRPr lang="pt-BR" smtClean="0"/>
          </a:p>
          <a:p>
            <a:pPr lvl="2"/>
            <a:r>
              <a:rPr lang="pt-BR" smtClean="0"/>
              <a:t>Terceiro nível</a:t>
            </a:r>
            <a:endParaRPr lang="pt-BR" smtClean="0"/>
          </a:p>
          <a:p>
            <a:pPr lvl="3"/>
            <a:r>
              <a:rPr lang="pt-BR" smtClean="0"/>
              <a:t>Quarto nível</a:t>
            </a:r>
            <a:endParaRPr lang="pt-BR" smtClean="0"/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66332-D461-43D9-A1C1-8FF0295CCEC5}" type="slidenum">
              <a:rPr lang="pt-BR" smtClean="0"/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Em termos simples: se o teu sistema demora 100ms para processar 1 pedido, um sistema escal</a:t>
            </a:r>
            <a:r>
              <a:rPr lang="en-US" altLang="en-US"/>
              <a:t>á</a:t>
            </a:r>
            <a:r>
              <a:rPr lang="en-US" altLang="pt-BR"/>
              <a:t>vel deve continuar a demorar aproximadamente 100ms se receber 10.000 pedidos em simult</a:t>
            </a:r>
            <a:r>
              <a:rPr lang="en-US" altLang="en-US"/>
              <a:t>â</a:t>
            </a:r>
            <a:r>
              <a:rPr lang="en-US" altLang="pt-BR"/>
              <a:t>neo, desde que os recursos escalem proporcionalmente.</a:t>
            </a:r>
            <a:endParaRPr lang="en-US" altLang="pt-B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Vantagens: Extremamente simples de implementar. N</a:t>
            </a:r>
            <a:r>
              <a:rPr lang="en-US" altLang="en-US"/>
              <a:t>ã</a:t>
            </a:r>
            <a:r>
              <a:rPr lang="en-US" altLang="pt-BR"/>
              <a:t>o exige altera</a:t>
            </a:r>
            <a:r>
              <a:rPr lang="en-US" altLang="en-US"/>
              <a:t>çõ</a:t>
            </a:r>
            <a:r>
              <a:rPr lang="en-US" altLang="pt-BR"/>
              <a:t>es na arquitetura da aplica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o; o c</a:t>
            </a:r>
            <a:r>
              <a:rPr lang="en-US" altLang="en-US"/>
              <a:t>ó</a:t>
            </a:r>
            <a:r>
              <a:rPr lang="en-US" altLang="pt-BR"/>
              <a:t>digo corre exatamente da mesma forma, apenas num "servidor maior". A comunica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entre processos </a:t>
            </a:r>
            <a:r>
              <a:rPr lang="en-US" altLang="en-US"/>
              <a:t>é</a:t>
            </a:r>
            <a:r>
              <a:rPr lang="en-US" altLang="pt-BR"/>
              <a:t> feita na mesma placa-m</a:t>
            </a:r>
            <a:r>
              <a:rPr lang="en-US" altLang="en-US"/>
              <a:t>ã</a:t>
            </a:r>
            <a:r>
              <a:rPr lang="en-US" altLang="pt-BR"/>
              <a:t>e (inter-process communication ou IPC), o que elimina a lat</a:t>
            </a:r>
            <a:r>
              <a:rPr lang="en-US" altLang="en-US"/>
              <a:t>ê</a:t>
            </a:r>
            <a:r>
              <a:rPr lang="en-US" altLang="pt-BR"/>
              <a:t>ncia de rede.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Desvantagens: Existe um limite f</a:t>
            </a:r>
            <a:r>
              <a:rPr lang="en-US" altLang="en-US"/>
              <a:t>í</a:t>
            </a:r>
            <a:r>
              <a:rPr lang="en-US" altLang="pt-BR"/>
              <a:t>sico (teto de hardware) — chega um ponto em que n</a:t>
            </a:r>
            <a:r>
              <a:rPr lang="en-US" altLang="en-US"/>
              <a:t>ã</a:t>
            </a:r>
            <a:r>
              <a:rPr lang="en-US" altLang="pt-BR"/>
              <a:t>o podes comprar uma m</a:t>
            </a:r>
            <a:r>
              <a:rPr lang="en-US" altLang="en-US"/>
              <a:t>á</a:t>
            </a:r>
            <a:r>
              <a:rPr lang="en-US" altLang="pt-BR"/>
              <a:t>quina maior. Al</a:t>
            </a:r>
            <a:r>
              <a:rPr lang="en-US" altLang="en-US"/>
              <a:t>é</a:t>
            </a:r>
            <a:r>
              <a:rPr lang="en-US" altLang="pt-BR"/>
              <a:t>m disso, torna-se exponencialmente caro e mant</a:t>
            </a:r>
            <a:r>
              <a:rPr lang="en-US" altLang="en-US"/>
              <a:t>é</a:t>
            </a:r>
            <a:r>
              <a:rPr lang="en-US" altLang="pt-BR"/>
              <a:t>m um Ponto </a:t>
            </a:r>
            <a:r>
              <a:rPr lang="en-US" altLang="en-US"/>
              <a:t>Ú</a:t>
            </a:r>
            <a:r>
              <a:rPr lang="en-US" altLang="pt-BR"/>
              <a:t>nico de Falha (SPOF - Single Point of Failure): se aquela m</a:t>
            </a:r>
            <a:r>
              <a:rPr lang="en-US" altLang="en-US"/>
              <a:t>á</a:t>
            </a:r>
            <a:r>
              <a:rPr lang="en-US" altLang="pt-BR"/>
              <a:t>quina avariar, o sistema cai por completo.</a:t>
            </a:r>
            <a:endParaRPr lang="en-US" altLang="pt-B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Vantagens: Praticamente ilimitada. Podes continuar a adicionar servidores à medida que a procura cresce. Oferece alta disponibilidade e toler</a:t>
            </a:r>
            <a:r>
              <a:rPr lang="en-US" altLang="en-US"/>
              <a:t>â</a:t>
            </a:r>
            <a:r>
              <a:rPr lang="en-US" altLang="pt-BR"/>
              <a:t>ncia a falhas (se um n</a:t>
            </a:r>
            <a:r>
              <a:rPr lang="en-US" altLang="en-US"/>
              <a:t>ó</a:t>
            </a:r>
            <a:r>
              <a:rPr lang="en-US" altLang="pt-BR"/>
              <a:t> falhar, os outros absorvem o tr</a:t>
            </a:r>
            <a:r>
              <a:rPr lang="en-US" altLang="en-US"/>
              <a:t>á</a:t>
            </a:r>
            <a:r>
              <a:rPr lang="en-US" altLang="pt-BR"/>
              <a:t>fego).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Desvantagens: Introduz uma complexidade t</a:t>
            </a:r>
            <a:r>
              <a:rPr lang="en-US" altLang="en-US"/>
              <a:t>é</a:t>
            </a:r>
            <a:r>
              <a:rPr lang="en-US" altLang="pt-BR"/>
              <a:t>cnica enorme. Obriga ao uso de redes complexas, consist</a:t>
            </a:r>
            <a:r>
              <a:rPr lang="en-US" altLang="en-US"/>
              <a:t>ê</a:t>
            </a:r>
            <a:r>
              <a:rPr lang="en-US" altLang="pt-BR"/>
              <a:t>ncia de dados distribu</a:t>
            </a:r>
            <a:r>
              <a:rPr lang="en-US" altLang="en-US"/>
              <a:t>í</a:t>
            </a:r>
            <a:r>
              <a:rPr lang="en-US" altLang="pt-BR"/>
              <a:t>da e requer uma ferramenta essencial: o Load Balancer.</a:t>
            </a:r>
            <a:endParaRPr lang="en-US" altLang="pt-B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O Load Balancer (LB) </a:t>
            </a:r>
            <a:r>
              <a:rPr lang="en-US" altLang="en-US"/>
              <a:t>é</a:t>
            </a:r>
            <a:r>
              <a:rPr lang="en-US" altLang="pt-BR"/>
              <a:t> o componente de infraestrutura que atua como um "pol</a:t>
            </a:r>
            <a:r>
              <a:rPr lang="en-US" altLang="en-US"/>
              <a:t>í</a:t>
            </a:r>
            <a:r>
              <a:rPr lang="en-US" altLang="pt-BR"/>
              <a:t>cia de tr</a:t>
            </a:r>
            <a:r>
              <a:rPr lang="en-US" altLang="en-US"/>
              <a:t>â</a:t>
            </a:r>
            <a:r>
              <a:rPr lang="en-US" altLang="pt-BR"/>
              <a:t>nsito". Ele recebe todos os pedidos vindos da internet e distribui-os de forma inteligente pelos v</a:t>
            </a:r>
            <a:r>
              <a:rPr lang="en-US" altLang="en-US"/>
              <a:t>á</a:t>
            </a:r>
            <a:r>
              <a:rPr lang="en-US" altLang="pt-BR"/>
              <a:t>rios servidores dispon</a:t>
            </a:r>
            <a:r>
              <a:rPr lang="en-US" altLang="en-US"/>
              <a:t>í</a:t>
            </a:r>
            <a:r>
              <a:rPr lang="en-US" altLang="pt-BR"/>
              <a:t>veis no cluster (escala horizontal).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Existem duas formas principais de atua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baseadas no modelo OSI: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Layer 4 Load Balancing (Transporte): Encaminha o tr</a:t>
            </a:r>
            <a:r>
              <a:rPr lang="en-US" altLang="en-US"/>
              <a:t>á</a:t>
            </a:r>
            <a:r>
              <a:rPr lang="en-US" altLang="pt-BR"/>
              <a:t>fego com base nas informa</a:t>
            </a:r>
            <a:r>
              <a:rPr lang="en-US" altLang="en-US"/>
              <a:t>çõ</a:t>
            </a:r>
            <a:r>
              <a:rPr lang="en-US" altLang="pt-BR"/>
              <a:t>es de rede e transporte (endere</a:t>
            </a:r>
            <a:r>
              <a:rPr lang="en-US" altLang="en-US"/>
              <a:t>ç</a:t>
            </a:r>
            <a:r>
              <a:rPr lang="en-US" altLang="pt-BR"/>
              <a:t>o IP e portas TCP/UDP), sem olhar para o conte</a:t>
            </a:r>
            <a:r>
              <a:rPr lang="en-US" altLang="en-US"/>
              <a:t>ú</a:t>
            </a:r>
            <a:r>
              <a:rPr lang="en-US" altLang="pt-BR"/>
              <a:t>do do pedido. </a:t>
            </a:r>
            <a:r>
              <a:rPr lang="en-US" altLang="en-US"/>
              <a:t>É</a:t>
            </a:r>
            <a:r>
              <a:rPr lang="en-US" altLang="pt-BR"/>
              <a:t> extremamente r</a:t>
            </a:r>
            <a:r>
              <a:rPr lang="en-US" altLang="en-US"/>
              <a:t>á</a:t>
            </a:r>
            <a:r>
              <a:rPr lang="en-US" altLang="pt-BR"/>
              <a:t>pido e consome poucos recursos.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Layer 7 Load Balancing (Aplica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o): Toma decis</a:t>
            </a:r>
            <a:r>
              <a:rPr lang="en-US" altLang="en-US"/>
              <a:t>õ</a:t>
            </a:r>
            <a:r>
              <a:rPr lang="en-US" altLang="pt-BR"/>
              <a:t>es de encaminhamento com base no conte</a:t>
            </a:r>
            <a:r>
              <a:rPr lang="en-US" altLang="en-US"/>
              <a:t>ú</a:t>
            </a:r>
            <a:r>
              <a:rPr lang="en-US" altLang="pt-BR"/>
              <a:t>do do pedido HTTP/HTTPS (como cabe</a:t>
            </a:r>
            <a:r>
              <a:rPr lang="en-US" altLang="en-US"/>
              <a:t>ç</a:t>
            </a:r>
            <a:r>
              <a:rPr lang="en-US" altLang="pt-BR"/>
              <a:t>alhos, cookies, ou o caminho do URL /api/v1/users). Permite funcionalidades avan</a:t>
            </a:r>
            <a:r>
              <a:rPr lang="en-US" altLang="en-US"/>
              <a:t>ç</a:t>
            </a:r>
            <a:r>
              <a:rPr lang="en-US" altLang="pt-BR"/>
              <a:t>adas como termina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SSL e roteamento inteligente.</a:t>
            </a:r>
            <a:endParaRPr lang="en-US" altLang="pt-B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A replica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consiste em ter m</a:t>
            </a:r>
            <a:r>
              <a:rPr lang="en-US" altLang="en-US"/>
              <a:t>ú</a:t>
            </a:r>
            <a:r>
              <a:rPr lang="en-US" altLang="pt-BR"/>
              <a:t>ltiplas inst</a:t>
            </a:r>
            <a:r>
              <a:rPr lang="en-US" altLang="en-US"/>
              <a:t>â</a:t>
            </a:r>
            <a:r>
              <a:rPr lang="en-US" altLang="pt-BR"/>
              <a:t>ncias id</a:t>
            </a:r>
            <a:r>
              <a:rPr lang="en-US" altLang="en-US"/>
              <a:t>ê</a:t>
            </a:r>
            <a:r>
              <a:rPr lang="en-US" altLang="pt-BR"/>
              <a:t>nticas do mesmo servi</a:t>
            </a:r>
            <a:r>
              <a:rPr lang="en-US" altLang="en-US"/>
              <a:t>ç</a:t>
            </a:r>
            <a:r>
              <a:rPr lang="en-US" altLang="pt-BR"/>
              <a:t>o a correr simultaneamente. O objetivo </a:t>
            </a:r>
            <a:r>
              <a:rPr lang="en-US" altLang="en-US"/>
              <a:t>é</a:t>
            </a:r>
            <a:r>
              <a:rPr lang="en-US" altLang="pt-BR"/>
              <a:t> duplo: garantir que o sistema n</a:t>
            </a:r>
            <a:r>
              <a:rPr lang="en-US" altLang="en-US"/>
              <a:t>ã</a:t>
            </a:r>
            <a:r>
              <a:rPr lang="en-US" altLang="pt-BR"/>
              <a:t>o vai abaixo se uma m</a:t>
            </a:r>
            <a:r>
              <a:rPr lang="en-US" altLang="en-US"/>
              <a:t>á</a:t>
            </a:r>
            <a:r>
              <a:rPr lang="en-US" altLang="pt-BR"/>
              <a:t>quina falhar (alta disponibilidade) e dividir o trabalho de processamento.</a:t>
            </a:r>
            <a:endParaRPr lang="en-US" altLang="pt-B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Sistemas Stateful (Com Estado)</a:t>
            </a:r>
            <a:endParaRPr lang="en-US" altLang="pt-BR"/>
          </a:p>
          <a:p>
            <a:r>
              <a:rPr lang="en-US" altLang="pt-BR"/>
              <a:t>O Problema: Se o utilizador fizer login no Servidor A e o Load Balancer enviar o pedido seguinte para o Servidor B, o Servidor B n</a:t>
            </a:r>
            <a:r>
              <a:rPr lang="en-US" altLang="en-US"/>
              <a:t>ã</a:t>
            </a:r>
            <a:r>
              <a:rPr lang="en-US" altLang="pt-BR"/>
              <a:t>o sabe quem </a:t>
            </a:r>
            <a:r>
              <a:rPr lang="en-US" altLang="en-US"/>
              <a:t>é</a:t>
            </a:r>
            <a:r>
              <a:rPr lang="en-US" altLang="pt-BR"/>
              <a:t> aquele utilizador e vai pedir-lhe para fazer login novamente.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Como mitigar em arquiteturas escal</a:t>
            </a:r>
            <a:r>
              <a:rPr lang="en-US" altLang="en-US"/>
              <a:t>á</a:t>
            </a:r>
            <a:r>
              <a:rPr lang="en-US" altLang="pt-BR"/>
              <a:t>veis: Evita-se guardar o estado na mem</a:t>
            </a:r>
            <a:r>
              <a:rPr lang="en-US" altLang="en-US"/>
              <a:t>ó</a:t>
            </a:r>
            <a:r>
              <a:rPr lang="en-US" altLang="pt-BR"/>
              <a:t>ria da aplica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o. Em vez disso, externaliza-se o estado para uma base de dados em mem</a:t>
            </a:r>
            <a:r>
              <a:rPr lang="en-US" altLang="en-US"/>
              <a:t>ó</a:t>
            </a:r>
            <a:r>
              <a:rPr lang="en-US" altLang="pt-BR"/>
              <a:t>ria ultra-r</a:t>
            </a:r>
            <a:r>
              <a:rPr lang="en-US" altLang="en-US"/>
              <a:t>á</a:t>
            </a:r>
            <a:r>
              <a:rPr lang="en-US" altLang="pt-BR"/>
              <a:t>pida partilhada por todos os servidores (como o Redis ou Memcached). Assim, as inst</a:t>
            </a:r>
            <a:r>
              <a:rPr lang="en-US" altLang="en-US"/>
              <a:t>â</a:t>
            </a:r>
            <a:r>
              <a:rPr lang="en-US" altLang="pt-BR"/>
              <a:t>ncias da aplica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continuam stateless, embora o sistema, como um todo, mantenha o estado de forma centralizada.</a:t>
            </a:r>
            <a:endParaRPr lang="en-US" altLang="pt-B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Um bottleneck ocorre quando um </a:t>
            </a:r>
            <a:r>
              <a:rPr lang="en-US" altLang="en-US"/>
              <a:t>ú</a:t>
            </a:r>
            <a:r>
              <a:rPr lang="en-US" altLang="pt-BR"/>
              <a:t>nico componente do sistema atinge o seu limite de capacidade, atrasando ou bloqueando todo o fluxo da arquitetura. Em sistemas distribu</a:t>
            </a:r>
            <a:r>
              <a:rPr lang="en-US" altLang="en-US"/>
              <a:t>í</a:t>
            </a:r>
            <a:r>
              <a:rPr lang="en-US" altLang="pt-BR"/>
              <a:t>dos, os gargalos mais comuns n</a:t>
            </a:r>
            <a:r>
              <a:rPr lang="en-US" altLang="en-US"/>
              <a:t>ã</a:t>
            </a:r>
            <a:r>
              <a:rPr lang="en-US" altLang="pt-BR"/>
              <a:t>o costumam ser o CPU da aplica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o, mas sim:</a:t>
            </a:r>
            <a:endParaRPr lang="en-US" altLang="pt-BR"/>
          </a:p>
          <a:p>
            <a:r>
              <a:rPr lang="pt-BR" altLang="en-US"/>
              <a:t>-------------------------------------</a:t>
            </a:r>
            <a:endParaRPr lang="pt-BR" altLang="en-US"/>
          </a:p>
          <a:p>
            <a:r>
              <a:rPr lang="en-US" altLang="pt-BR"/>
              <a:t>A Base de Dados Relacional: Enquanto a camada de aplica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escala horizontalmente com facilidade, a base de dados centralizada (especialmente se for SQL tradicional) costuma ser o maior gargalo. Muitas leituras/escritas simult</a:t>
            </a:r>
            <a:r>
              <a:rPr lang="en-US" altLang="en-US"/>
              <a:t>â</a:t>
            </a:r>
            <a:r>
              <a:rPr lang="en-US" altLang="pt-BR"/>
              <a:t>neas geram bloqueios de tabelas (locking) e esgotamento do pool de conex</a:t>
            </a:r>
            <a:r>
              <a:rPr lang="en-US" altLang="en-US"/>
              <a:t>õ</a:t>
            </a:r>
            <a:r>
              <a:rPr lang="en-US" altLang="pt-BR"/>
              <a:t>es.</a:t>
            </a:r>
            <a:endParaRPr lang="en-US" altLang="pt-BR"/>
          </a:p>
          <a:p>
            <a:r>
              <a:rPr lang="en-US" altLang="pt-BR"/>
              <a:t>Solu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o: Implementar camadas de cache (Redis), replica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de leitura ou migrar para bases de dados NoSQL/Distribu</a:t>
            </a:r>
            <a:r>
              <a:rPr lang="en-US" altLang="en-US"/>
              <a:t>í</a:t>
            </a:r>
            <a:r>
              <a:rPr lang="en-US" altLang="pt-BR"/>
              <a:t>das.</a:t>
            </a:r>
            <a:endParaRPr lang="en-US" altLang="pt-BR"/>
          </a:p>
          <a:p>
            <a:r>
              <a:rPr lang="en-US" altLang="pt-BR"/>
              <a:t>Lat</a:t>
            </a:r>
            <a:r>
              <a:rPr lang="en-US" altLang="en-US"/>
              <a:t>ê</a:t>
            </a:r>
            <a:r>
              <a:rPr lang="en-US" altLang="pt-BR"/>
              <a:t>ncia de Rede e Banda Larga: Num sistema distribu</a:t>
            </a:r>
            <a:r>
              <a:rPr lang="en-US" altLang="en-US"/>
              <a:t>í</a:t>
            </a:r>
            <a:r>
              <a:rPr lang="en-US" altLang="pt-BR"/>
              <a:t>do, os servidores precisam de falar uns com os outros atrav</a:t>
            </a:r>
            <a:r>
              <a:rPr lang="en-US" altLang="en-US"/>
              <a:t>é</a:t>
            </a:r>
            <a:r>
              <a:rPr lang="en-US" altLang="pt-BR"/>
              <a:t>s da rede (chamadas RPC, APIs REST, mensagens em filas). A rede </a:t>
            </a:r>
            <a:r>
              <a:rPr lang="en-US" altLang="en-US"/>
              <a:t>é</a:t>
            </a:r>
            <a:r>
              <a:rPr lang="en-US" altLang="pt-BR"/>
              <a:t> ordens de magnitude mais lenta do que a mem</a:t>
            </a:r>
            <a:r>
              <a:rPr lang="en-US" altLang="en-US"/>
              <a:t>ó</a:t>
            </a:r>
            <a:r>
              <a:rPr lang="en-US" altLang="pt-BR"/>
              <a:t>ria RAM. Se os microsservi</a:t>
            </a:r>
            <a:r>
              <a:rPr lang="en-US" altLang="en-US"/>
              <a:t>ç</a:t>
            </a:r>
            <a:r>
              <a:rPr lang="en-US" altLang="pt-BR"/>
              <a:t>os forem demasiado "conversadores", o sistema fica lento devido ao overhead de rede.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Conten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de Bloqueios (Locks) e Sincroniza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o: Quando v</a:t>
            </a:r>
            <a:r>
              <a:rPr lang="en-US" altLang="en-US"/>
              <a:t>á</a:t>
            </a:r>
            <a:r>
              <a:rPr lang="en-US" altLang="pt-BR"/>
              <a:t>rias m</a:t>
            </a:r>
            <a:r>
              <a:rPr lang="en-US" altLang="en-US"/>
              <a:t>á</a:t>
            </a:r>
            <a:r>
              <a:rPr lang="en-US" altLang="pt-BR"/>
              <a:t>quinas tentam aceder e modificar o mesmo recurso distribu</a:t>
            </a:r>
            <a:r>
              <a:rPr lang="en-US" altLang="en-US"/>
              <a:t>í</a:t>
            </a:r>
            <a:r>
              <a:rPr lang="en-US" altLang="pt-BR"/>
              <a:t>do ao mesmo tempo, s</a:t>
            </a:r>
            <a:r>
              <a:rPr lang="en-US" altLang="en-US"/>
              <a:t>ã</a:t>
            </a:r>
            <a:r>
              <a:rPr lang="en-US" altLang="pt-BR"/>
              <a:t>o necess</a:t>
            </a:r>
            <a:r>
              <a:rPr lang="en-US" altLang="en-US"/>
              <a:t>á</a:t>
            </a:r>
            <a:r>
              <a:rPr lang="en-US" altLang="pt-BR"/>
              <a:t>rios mecanismos de bloqueio distribu</a:t>
            </a:r>
            <a:r>
              <a:rPr lang="en-US" altLang="en-US"/>
              <a:t>í</a:t>
            </a:r>
            <a:r>
              <a:rPr lang="en-US" altLang="pt-BR"/>
              <a:t>do (Distributed Locks). Isto for</a:t>
            </a:r>
            <a:r>
              <a:rPr lang="en-US" altLang="en-US"/>
              <a:t>ç</a:t>
            </a:r>
            <a:r>
              <a:rPr lang="en-US" altLang="pt-BR"/>
              <a:t>a os sistemas a esperar uns pelos outros, destruindo o paralelismo.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O Teorema de CAP (Consist</a:t>
            </a:r>
            <a:r>
              <a:rPr lang="en-US" altLang="en-US"/>
              <a:t>ê</a:t>
            </a:r>
            <a:r>
              <a:rPr lang="en-US" altLang="pt-BR"/>
              <a:t>ncia vs. Disponibilidade): Em sistemas distribu</a:t>
            </a:r>
            <a:r>
              <a:rPr lang="en-US" altLang="en-US"/>
              <a:t>í</a:t>
            </a:r>
            <a:r>
              <a:rPr lang="en-US" altLang="pt-BR"/>
              <a:t>dos, quando ocorre uma falha na rede (parti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o), </a:t>
            </a:r>
            <a:r>
              <a:rPr lang="en-US" altLang="en-US"/>
              <a:t>é</a:t>
            </a:r>
            <a:r>
              <a:rPr lang="en-US" altLang="pt-BR"/>
              <a:t>s obrigado a escolher entre manter os dados 100% consistentes em todos os n</a:t>
            </a:r>
            <a:r>
              <a:rPr lang="en-US" altLang="en-US"/>
              <a:t>ó</a:t>
            </a:r>
            <a:r>
              <a:rPr lang="en-US" altLang="pt-BR"/>
              <a:t>s (o que torna o sistema lento ou indispon</a:t>
            </a:r>
            <a:r>
              <a:rPr lang="en-US" altLang="en-US"/>
              <a:t>í</a:t>
            </a:r>
            <a:r>
              <a:rPr lang="en-US" altLang="pt-BR"/>
              <a:t>vel temporariamente) ou manter o sistema dispon</a:t>
            </a:r>
            <a:r>
              <a:rPr lang="en-US" altLang="en-US"/>
              <a:t>í</a:t>
            </a:r>
            <a:r>
              <a:rPr lang="en-US" altLang="pt-BR"/>
              <a:t>vel (aceitando que algumas m</a:t>
            </a:r>
            <a:r>
              <a:rPr lang="en-US" altLang="en-US"/>
              <a:t>á</a:t>
            </a:r>
            <a:r>
              <a:rPr lang="en-US" altLang="pt-BR"/>
              <a:t>quinas devolvam dados desatualizados por breves momentos). Gerir este equil</a:t>
            </a:r>
            <a:r>
              <a:rPr lang="en-US" altLang="en-US"/>
              <a:t>í</a:t>
            </a:r>
            <a:r>
              <a:rPr lang="en-US" altLang="pt-BR"/>
              <a:t>brio </a:t>
            </a:r>
            <a:r>
              <a:rPr lang="en-US" altLang="en-US"/>
              <a:t>é</a:t>
            </a:r>
            <a:r>
              <a:rPr lang="en-US" altLang="pt-BR"/>
              <a:t> o maior desafio t</a:t>
            </a:r>
            <a:r>
              <a:rPr lang="en-US" altLang="en-US"/>
              <a:t>é</a:t>
            </a:r>
            <a:r>
              <a:rPr lang="en-US" altLang="pt-BR"/>
              <a:t>cnico de engenharia de sistemas.</a:t>
            </a:r>
            <a:endParaRPr lang="en-US" altLang="pt-B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O Estado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o Inimigo da Escala: Quanto menos dados um servidor precisar de memorizar localmente (Stateless), mais f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cil, barato e autom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tico ser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o processo de clonar esse servidor para absorver picos de tr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fego.</a:t>
            </a:r>
            <a:endParaRPr lang="en-US" altLang="pt-BR"/>
          </a:p>
          <a:p>
            <a:endParaRPr lang="en-US" altLang="pt-BR"/>
          </a:p>
          <a:p>
            <a:r>
              <a:rPr lang="en-US" altLang="pt-BR">
                <a:sym typeface="+mn-ea"/>
              </a:rPr>
              <a:t>A Complexidade Apenas Muda de Lugar: Resolver o teto f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sico de um hardware migrando para a escala horizontal elimina o Ponto 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nico de Falha (SPOF), mas introduz uma complexidade enorme na gest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da consist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 dos dados, na lat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 de rede e na seguran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distribu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da.</a:t>
            </a:r>
            <a:endParaRPr lang="en-US" altLang="pt-BR"/>
          </a:p>
          <a:p>
            <a:endParaRPr lang="en-US" altLang="pt-BR"/>
          </a:p>
          <a:p>
            <a:r>
              <a:rPr lang="en-US" altLang="pt-BR">
                <a:sym typeface="+mn-ea"/>
              </a:rPr>
              <a:t>A Engenharia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Jogo de Trocas (Trade-offs): N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existe o sistema perfeito. Projetar sistemas distribu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dos escal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veis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procura constante pelo equil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brio — seja aceitando que os dados v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demorar alguns milissegundos a propagar-se pelas r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plicas para ganhar velocidade, ou investindo mais em infraestrutura para eliminar os inevit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veis gargalos (Bottlenecks) de escrita e leitura de dados.</a:t>
            </a: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37185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ctr"/>
            <a:r>
              <a:rPr lang="pt-BR" sz="1600" b="1" i="0">
                <a:solidFill>
                  <a:srgbClr val="2E86DE"/>
                </a:solidFill>
                <a:latin typeface="Calibri" panose="020F0502020204030204"/>
              </a:rPr>
              <a:t>SISTEMAS DISTRIBUIDOS</a:t>
            </a:r>
            <a:endParaRPr lang="pt-BR" sz="16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17348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 panose="020F0502020204030204"/>
              </a:rPr>
              <a:t>De Microserviços a Escala e Segurança</a:t>
            </a:r>
            <a:endParaRPr sz="40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>
              <a:spcBef>
                <a:spcPts val="1000"/>
              </a:spcBef>
            </a:pPr>
            <a:r>
              <a:rPr sz="2200" b="0" i="0">
                <a:solidFill>
                  <a:srgbClr val="B8C4D9"/>
                </a:solidFill>
                <a:latin typeface="Calibri" panose="020F0502020204030204"/>
              </a:rPr>
              <a:t>Trabalho </a:t>
            </a:r>
            <a:r>
              <a:rPr lang="pt-BR" sz="2200" b="0" i="0">
                <a:solidFill>
                  <a:srgbClr val="B8C4D9"/>
                </a:solidFill>
                <a:latin typeface="Calibri" panose="020F0502020204030204"/>
              </a:rPr>
              <a:t>final</a:t>
            </a:r>
            <a:r>
              <a:rPr sz="2200" b="0" i="0">
                <a:solidFill>
                  <a:srgbClr val="B8C4D9"/>
                </a:solidFill>
                <a:latin typeface="Calibri" panose="020F0502020204030204"/>
              </a:rPr>
              <a:t> — Parte 2</a:t>
            </a:r>
            <a:r>
              <a:rPr lang="pt-BR" sz="2200" b="0" i="0">
                <a:solidFill>
                  <a:srgbClr val="B8C4D9"/>
                </a:solidFill>
                <a:latin typeface="Calibri" panose="020F0502020204030204"/>
              </a:rPr>
              <a:t> e 3</a:t>
            </a:r>
            <a:endParaRPr lang="pt-BR" sz="2200" b="0" i="0">
              <a:solidFill>
                <a:srgbClr val="B8C4D9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CONTEXTO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O projeto em duas partes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4924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49240" cy="640080"/>
          </a:xfrm>
          <a:prstGeom prst="rect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502920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/>
              </a:rPr>
              <a:t>PARTE 1  —  Arquiteturas</a:t>
            </a:r>
            <a:endParaRPr sz="18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4937760" cy="34747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Apresentação da arquitetura monolítica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Apresentação da arquitetura de microserviços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Comunicação por HTTP real (Flask + Requests)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Comparação conceptual entre as abordagens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1200"/>
              </a:spcBef>
            </a:pPr>
            <a:r>
              <a:rPr sz="1500" b="0" i="1">
                <a:solidFill>
                  <a:srgbClr val="555F6E"/>
                </a:solidFill>
                <a:latin typeface="Calibri" panose="020F0502020204030204"/>
              </a:rPr>
              <a:t>Foco: entender cada arquitetura</a:t>
            </a:r>
            <a:endParaRPr sz="1500" b="0" i="1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34924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5349240" cy="6400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502920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/>
              </a:rPr>
              <a:t>PARTE 2  —  Esta apresentação</a:t>
            </a:r>
            <a:endParaRPr sz="18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37960" y="2423160"/>
            <a:ext cx="4937760" cy="34747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•  Remove o monólito — só microserviços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Escala horizontal: réplicas + load balancer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Testes de carga e análise de desempenho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Segurança: JWT, rate limit, headers, tokens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A44"/>
                </a:solidFill>
                <a:latin typeface="Calibri" panose="020F0502020204030204"/>
              </a:rPr>
              <a:t>•  Persistência e idempotência em Postgres</a:t>
            </a:r>
            <a:endParaRPr sz="16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1200"/>
              </a:spcBef>
            </a:pPr>
            <a:r>
              <a:rPr sz="1500" b="0" i="1">
                <a:solidFill>
                  <a:srgbClr val="2E86DE"/>
                </a:solidFill>
                <a:latin typeface="Calibri" panose="020F0502020204030204"/>
              </a:rPr>
              <a:t>Foco: desempenho sob carga e segurança</a:t>
            </a:r>
            <a:endParaRPr sz="1500" b="0" i="1">
              <a:solidFill>
                <a:srgbClr val="2E86D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ARQUITETURA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Microserviços independentes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0" i="0">
                <a:solidFill>
                  <a:srgbClr val="555F6E"/>
                </a:solidFill>
                <a:latin typeface="Calibri" panose="020F0502020204030204"/>
              </a:rPr>
              <a:t>Cinco serviços + base de dados, orquestrados por Docker Compose.</a:t>
            </a:r>
            <a:endParaRPr sz="16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2194560" cy="914400"/>
          </a:xfrm>
          <a:prstGeom prst="rect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39112"/>
            <a:ext cx="219456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Cliente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navegador / curl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00400" y="1920240"/>
            <a:ext cx="2377440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039112"/>
            <a:ext cx="237744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Gateway :5000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JWT · rate limit · headers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00400" y="3154680"/>
            <a:ext cx="237744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3273552"/>
            <a:ext cx="237744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Auth :5002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emite JWT · hash pw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35040" y="1920240"/>
            <a:ext cx="2377440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039112"/>
            <a:ext cx="237744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Order :5001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round-robin · retries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35040" y="3154680"/>
            <a:ext cx="2377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273552"/>
            <a:ext cx="237744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Postgres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orders · idempotency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869680" y="1600200"/>
            <a:ext cx="26517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719072"/>
            <a:ext cx="265176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payment-1 :5003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stateless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869680" y="2697480"/>
            <a:ext cx="26517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2816352"/>
            <a:ext cx="265176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payment-2 :5003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stateless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869680" y="3794760"/>
            <a:ext cx="26517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3913632"/>
            <a:ext cx="2651760" cy="82296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payment-3 :5003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100" b="0" i="0">
                <a:solidFill>
                  <a:srgbClr val="E5EEF7"/>
                </a:solidFill>
                <a:latin typeface="Calibri" panose="020F0502020204030204"/>
              </a:rPr>
              <a:t>stateless</a:t>
            </a:r>
            <a:endParaRPr sz="1100" b="0" i="0">
              <a:solidFill>
                <a:srgbClr val="E5EEF7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8640" y="5120640"/>
            <a:ext cx="11064240" cy="146304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Só o Gateway é exposto ao exterior; tudo o resto comunica na rede interna.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Order Service distribui pagamentos por round-robin entre as 3 réplicas (timeout curto + 3 retries com backoff).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Estado partilhado fica no Postgres — vários workers, zero corridas.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54864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 panose="020B0604020202020204"/>
              </a:defRPr>
            </a:pPr>
            <a:r>
              <a:t>O Conceito de Escalabilidade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2071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600">
                <a:solidFill>
                  <a:srgbClr val="0F172A"/>
                </a:solidFill>
                <a:latin typeface="Arial" panose="020B0604020202020204"/>
              </a:defRPr>
            </a:pPr>
            <a:r>
              <a:t>A escalabilidade representa a habilidade de um sistema em responder a um aumento no volume de carga de trabalho e requisições adicionando novos recursos de computação de maneira proporcional.</a:t>
            </a:r>
          </a:p>
          <a:p>
            <a:pPr>
              <a:defRPr sz="1600">
                <a:solidFill>
                  <a:srgbClr val="0F172A"/>
                </a:solidFill>
                <a:latin typeface="Arial" panose="020B0604020202020204"/>
              </a:defRPr>
            </a:pPr>
            <a:r>
              <a:t>O foco principal é manter uma taxa de latência uniforme e aceitável, mesmo perante cenários de uso concorrente ou alta procura de tráfego na rede.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493776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Arial" panose="020B0604020202020204"/>
              </a:defRPr>
            </a:pPr>
            <a:r>
              <a:t>Métricas Comuns de Carga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t>•  RPS (Requisições por Segundo) recebidas nas APIs.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t>•  Conexões ativas simultâneas de utilizadores.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t>•  Operações concorrentes de escrita e leitura na Base de Dados.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t>•  Taxa de transferência (Throughput) de dados na rede.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54864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 panose="020B0604020202020204"/>
              </a:defRPr>
            </a:pPr>
            <a:r>
              <a:t>Escala Vertical vs. Horizontal</a:t>
            </a: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3055620" y="1645920"/>
            <a:ext cx="623316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3460750" y="1920240"/>
            <a:ext cx="5479415" cy="38157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F172A"/>
                </a:solidFill>
                <a:latin typeface="Arial" panose="020B0604020202020204"/>
              </a:defRPr>
            </a:pPr>
            <a:r>
              <a:rPr sz="3200"/>
              <a:t>Escala Vertical (Scale Up)</a:t>
            </a:r>
            <a:endParaRPr sz="3200"/>
          </a:p>
          <a:p>
            <a:pPr>
              <a:spcAft>
                <a:spcPts val="1800"/>
              </a:spcAft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rPr sz="2000"/>
              <a:t>Aumentar o poder computacional de um único servidor (adicionando CPU, RAM ou armazenamento rápido NVMe).</a:t>
            </a:r>
            <a:endParaRPr sz="2000"/>
          </a:p>
          <a:p>
            <a:pPr>
              <a:spcAft>
                <a:spcPts val="1000"/>
              </a:spcAft>
              <a:defRPr sz="1400">
                <a:solidFill>
                  <a:srgbClr val="0F172A"/>
                </a:solidFill>
                <a:latin typeface="Arial" panose="020B0604020202020204"/>
              </a:defRPr>
            </a:pPr>
            <a:r>
              <a:rPr sz="2000"/>
              <a:t>✔ Simplicidade absoluta (sem alteração no código)</a:t>
            </a:r>
            <a:br>
              <a:rPr sz="2000"/>
            </a:br>
            <a:r>
              <a:rPr sz="2000"/>
              <a:t>❌ Limites físicos de hardware e custo proibitivo</a:t>
            </a:r>
            <a:br>
              <a:rPr sz="2000"/>
            </a:br>
            <a:r>
              <a:rPr sz="2000"/>
              <a:t>❌ Cria um Ponto Único de Falha (SPOF)</a:t>
            </a:r>
            <a:endParaRPr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54864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 panose="020B0604020202020204"/>
              </a:defRPr>
            </a:pPr>
            <a:r>
              <a:t>Escala Vertical vs. Horizontal</a:t>
            </a: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3131185" y="1645920"/>
            <a:ext cx="6327775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3405505" y="2110105"/>
            <a:ext cx="5723255" cy="312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4F46E5"/>
                </a:solidFill>
                <a:latin typeface="Arial" panose="020B0604020202020204"/>
              </a:defRPr>
            </a:pPr>
            <a:r>
              <a:rPr sz="3200"/>
              <a:t>Escala Horizontal (Scale Out)</a:t>
            </a:r>
            <a:endParaRPr sz="3200"/>
          </a:p>
          <a:p>
            <a:pPr>
              <a:spcAft>
                <a:spcPts val="1800"/>
              </a:spcAft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rPr sz="2000"/>
              <a:t>Adicionar mais máquinas à infraestrutura, pulverizando e dividindo a carga por múltiplos servidores interligados.</a:t>
            </a:r>
            <a:endParaRPr sz="2000"/>
          </a:p>
          <a:p>
            <a:pPr>
              <a:defRPr sz="1400">
                <a:solidFill>
                  <a:srgbClr val="0F172A"/>
                </a:solidFill>
                <a:latin typeface="Arial" panose="020B0604020202020204"/>
              </a:defRPr>
            </a:pPr>
            <a:r>
              <a:rPr sz="2000"/>
              <a:t>✔ Altamente resiliente e crescimento teoricamente infinito</a:t>
            </a:r>
            <a:br>
              <a:rPr sz="2000"/>
            </a:br>
            <a:r>
              <a:rPr sz="2000"/>
              <a:t>❌ Requer arquitetura de rede mais complexa</a:t>
            </a:r>
            <a:br>
              <a:rPr sz="2000"/>
            </a:br>
            <a:r>
              <a:rPr sz="2000"/>
              <a:t>❌ Exige o uso indispensável de Load Balancers</a:t>
            </a:r>
            <a:endParaRPr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DESEMPENHO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Escala: vertical vs horizontal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49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37760" cy="1828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2A44"/>
                </a:solidFill>
                <a:latin typeface="Calibri" panose="020F0502020204030204"/>
              </a:rPr>
              <a:t>Escala vertical (processo)</a:t>
            </a:r>
            <a:endParaRPr sz="1700" b="1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Gunicorn como WSGI de produção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Vários workers por container (-w 4)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0392B"/>
                </a:solidFill>
                <a:latin typeface="Calibri" panose="020F0502020204030204"/>
              </a:rPr>
              <a:t>•  Limite: teto físico da máquina</a:t>
            </a:r>
            <a:endParaRPr sz="1400" b="0" i="0">
              <a:solidFill>
                <a:srgbClr val="C0392B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309360" y="1463040"/>
            <a:ext cx="5349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00200"/>
            <a:ext cx="4937760" cy="1828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E86DE"/>
                </a:solidFill>
                <a:latin typeface="Calibri" panose="020F0502020204030204"/>
              </a:rPr>
              <a:t>Escala horizontal (serviço)</a:t>
            </a:r>
            <a:endParaRPr sz="1700" b="1" i="0">
              <a:solidFill>
                <a:srgbClr val="2E86DE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3 réplicas do Payment Service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Load balancer round-robin no Order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7AE60"/>
                </a:solidFill>
                <a:latin typeface="Calibri" panose="020F0502020204030204"/>
              </a:rPr>
              <a:t>•  Tolerância a falhas: retry vai p/ outra réplica</a:t>
            </a:r>
            <a:endParaRPr sz="1400" b="0" i="0">
              <a:solidFill>
                <a:srgbClr val="27AE60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555F6E"/>
                </a:solidFill>
                <a:latin typeface="Calibri" panose="020F0502020204030204"/>
              </a:rPr>
              <a:t>Load balancer round-robin (itertools.cycle protegido por lock):</a:t>
            </a:r>
            <a:endParaRPr sz="1500" b="1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4069080"/>
            <a:ext cx="11091672" cy="14630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607040" cy="12801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BE9FD"/>
                </a:solidFill>
                <a:latin typeface="Consolas" panose="020B0609020204030204"/>
              </a:rPr>
              <a:t>PAYMENT_SERVICE_URLS = payment1, payment2, payment3</a:t>
            </a:r>
            <a:endParaRPr sz="1400" b="0" i="0">
              <a:solidFill>
                <a:srgbClr val="8BE9FD"/>
              </a:solidFill>
              <a:latin typeface="Consolas" panose="020B0609020204030204"/>
            </a:endParaRPr>
          </a:p>
          <a:p>
            <a:pPr algn="l"/>
            <a:r>
              <a:rPr sz="1400" b="0" i="0">
                <a:solidFill>
                  <a:srgbClr val="FFFFFF"/>
                </a:solidFill>
                <a:latin typeface="Consolas" panose="020B0609020204030204"/>
              </a:rPr>
              <a:t>def _next_payment_url():</a:t>
            </a:r>
            <a:endParaRPr sz="1400" b="0" i="0">
              <a:solidFill>
                <a:srgbClr val="FFFFFF"/>
              </a:solidFill>
              <a:latin typeface="Consolas" panose="020B0609020204030204"/>
            </a:endParaRPr>
          </a:p>
          <a:p>
            <a:pPr algn="l"/>
            <a:r>
              <a:rPr sz="1400" b="0" i="0">
                <a:solidFill>
                  <a:srgbClr val="FFFFFF"/>
                </a:solidFill>
                <a:latin typeface="Consolas" panose="020B0609020204030204"/>
              </a:rPr>
              <a:t>    with _rr_lock:</a:t>
            </a:r>
            <a:endParaRPr sz="1400" b="0" i="0">
              <a:solidFill>
                <a:srgbClr val="FFFFFF"/>
              </a:solidFill>
              <a:latin typeface="Consolas" panose="020B0609020204030204"/>
            </a:endParaRPr>
          </a:p>
          <a:p>
            <a:pPr algn="l"/>
            <a:r>
              <a:rPr sz="1400" b="0" i="0">
                <a:solidFill>
                  <a:srgbClr val="50FA7B"/>
                </a:solidFill>
                <a:latin typeface="Consolas" panose="020B0609020204030204"/>
              </a:rPr>
              <a:t>        return next(_rr_cycle)</a:t>
            </a:r>
            <a:endParaRPr sz="1400" b="0" i="0">
              <a:solidFill>
                <a:srgbClr val="50FA7B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097280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Resiliência: cada chamada de pagamento vai com timeout curto + 3 tentativas com backoff exponencial (tenacity).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DESEMPENHO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Demonstração: com vs sem escala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49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49240" cy="5943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SEM escala (1 réplica)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4754880" cy="54864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150" b="0" i="0">
                <a:solidFill>
                  <a:srgbClr val="8BE9FD"/>
                </a:solidFill>
                <a:latin typeface="Consolas" panose="020B0609020204030204"/>
              </a:rPr>
              <a:t>PAYMENT_SERVICE_URLS=...payment1 \</a:t>
            </a:r>
            <a:endParaRPr sz="1150" b="0" i="0">
              <a:solidFill>
                <a:srgbClr val="8BE9FD"/>
              </a:solidFill>
              <a:latin typeface="Consolas" panose="020B0609020204030204"/>
            </a:endParaRPr>
          </a:p>
          <a:p>
            <a:pPr algn="l"/>
            <a:r>
              <a:rPr sz="1150" b="0" i="0">
                <a:solidFill>
                  <a:srgbClr val="FFFFFF"/>
                </a:solidFill>
                <a:latin typeface="Consolas" panose="020B0609020204030204"/>
              </a:rPr>
              <a:t>  docker compose up --build</a:t>
            </a:r>
            <a:endParaRPr sz="1150" b="0" i="0">
              <a:solidFill>
                <a:srgbClr val="FFFFFF"/>
              </a:solidFill>
              <a:latin typeface="Consolas" panose="020B0609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4937760" cy="9144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Uma só instância absorve todos os pagamentos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0392B"/>
                </a:solidFill>
                <a:latin typeface="Calibri" panose="020F0502020204030204"/>
              </a:rPr>
              <a:t>•  Throughput cai e p95/p99 disparam sob carga</a:t>
            </a:r>
            <a:endParaRPr sz="1400" b="0" i="0">
              <a:solidFill>
                <a:srgbClr val="C0392B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349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349240" cy="59436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02920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COM escala (3 réplicas)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92240" y="2331720"/>
            <a:ext cx="498348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487168"/>
            <a:ext cx="4754880" cy="54864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Consolas" panose="020B0609020204030204"/>
              </a:rPr>
              <a:t>docker compose up --build</a:t>
            </a:r>
            <a:endParaRPr sz="1200" b="0" i="0">
              <a:solidFill>
                <a:srgbClr val="50FA7B"/>
              </a:solidFill>
              <a:latin typeface="Consolas" panose="020B0609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37960" y="3108960"/>
            <a:ext cx="4937760" cy="9144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3 instâncias absorvem em paralelo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7AE60"/>
                </a:solidFill>
                <a:latin typeface="Calibri" panose="020F0502020204030204"/>
              </a:rPr>
              <a:t>•  Throughput estável e p95/p99 menores</a:t>
            </a:r>
            <a:endParaRPr sz="1400" b="0" i="0">
              <a:solidFill>
                <a:srgbClr val="27AE60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48640" y="4343400"/>
            <a:ext cx="11091672" cy="1920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26280"/>
            <a:ext cx="10515600" cy="17373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E86DE"/>
                </a:solidFill>
                <a:latin typeface="Calibri" panose="020F0502020204030204"/>
              </a:rPr>
              <a:t>Conclusão da demonstração</a:t>
            </a:r>
            <a:endParaRPr sz="18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600" b="0" i="0">
                <a:solidFill>
                  <a:srgbClr val="FFFFFF"/>
                </a:solidFill>
                <a:latin typeface="Calibri" panose="020F0502020204030204"/>
              </a:rPr>
              <a:t>Distribuir a chamada síncrona de pagamento por várias réplicas remove o ponto único de processamento. O bloco "distribuição por instância" do load test confirma que o round-robin reparte o tráfego — e o cenário escalado mantém o throughput estável quando a concorrência aumenta.</a:t>
            </a:r>
            <a:endParaRPr sz="16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54864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 panose="020B0604020202020204"/>
              </a:defRPr>
            </a:pPr>
            <a:r>
              <a:t>Load Balancing (Balanceamento)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1033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500"/>
              </a:spcAft>
              <a:defRPr sz="1600">
                <a:solidFill>
                  <a:srgbClr val="0F172A"/>
                </a:solidFill>
                <a:latin typeface="Arial" panose="020B0604020202020204"/>
              </a:defRPr>
            </a:pPr>
            <a:r>
              <a:rPr sz="2000"/>
              <a:t>O Balanceador de Carga atua como intermediário que intercepta e distribui todas as chamadas de API externas para as instâncias ativas, impedindo sobrecargas.</a:t>
            </a:r>
            <a:endParaRPr sz="2000"/>
          </a:p>
          <a:p>
            <a:pPr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rPr sz="1800"/>
              <a:t>Tipos Principais (Modelo OSI):</a:t>
            </a:r>
            <a:br>
              <a:rPr sz="1800"/>
            </a:br>
            <a:r>
              <a:rPr sz="1800"/>
              <a:t>• Layer 4: Roteia tráfego rápido a nível de protocolo de transporte (IP e Portas TCP/UDP).</a:t>
            </a:r>
            <a:br>
              <a:rPr sz="1800"/>
            </a:br>
            <a:r>
              <a:rPr sz="1800"/>
              <a:t>• Layer 7: Roteamento inteligente baseado no conteúdo da aplicação (cookies, caminhos HTTP/URL ou headers).</a:t>
            </a:r>
            <a:endParaRPr sz="1800"/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493776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389120" cy="34042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Arial" panose="020B0604020202020204"/>
              </a:defRPr>
            </a:pPr>
            <a:r>
              <a:rPr sz="2800"/>
              <a:t>Algoritmos mais Utilizados</a:t>
            </a:r>
            <a:endParaRPr sz="2800"/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  <a:latin typeface="Arial" panose="020B0604020202020204"/>
              </a:defRPr>
            </a:pPr>
            <a:r>
              <a:rPr sz="1800"/>
              <a:t>•  Round Robin: Distribuição circular sequencial direta de requisições.</a:t>
            </a:r>
            <a:endParaRPr sz="1800"/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  <a:latin typeface="Arial" panose="020B0604020202020204"/>
              </a:defRPr>
            </a:pPr>
            <a:r>
              <a:rPr sz="1800"/>
              <a:t>•  Least Connections: Direciona para o nó com menos conexões ativas no momento.</a:t>
            </a:r>
            <a:endParaRPr sz="1800"/>
          </a:p>
          <a:p>
            <a:pPr>
              <a:spcAft>
                <a:spcPts val="1000"/>
              </a:spcAft>
              <a:defRPr sz="1500">
                <a:solidFill>
                  <a:srgbClr val="0F172A"/>
                </a:solidFill>
                <a:latin typeface="Arial" panose="020B0604020202020204"/>
              </a:defRPr>
            </a:pPr>
            <a:r>
              <a:rPr sz="1800"/>
              <a:t>•  IP Hash: Garante que um cliente com IP específico atinja sempre o mesmo servidor.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54864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 panose="020B0604020202020204"/>
              </a:defRPr>
            </a:pPr>
            <a:r>
              <a:t>Replicação de Serviços</a:t>
            </a:r>
          </a:p>
        </p:txBody>
      </p:sp>
      <p:sp>
        <p:nvSpPr>
          <p:cNvPr id="4" name="Rounded Rectangle 3"/>
          <p:cNvSpPr/>
          <p:nvPr>
            <p:custDataLst>
              <p:tags r:id="rId1"/>
            </p:custDataLst>
          </p:nvPr>
        </p:nvSpPr>
        <p:spPr>
          <a:xfrm>
            <a:off x="914400" y="1645920"/>
            <a:ext cx="320040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1097280" y="1920240"/>
            <a:ext cx="2834640" cy="2948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4F46E5"/>
                </a:solidFill>
                <a:latin typeface="Arial" panose="020B0604020202020204"/>
              </a:defRPr>
            </a:pPr>
            <a:r>
              <a:rPr sz="2400"/>
              <a:t>Replicação Stateless</a:t>
            </a:r>
            <a:endParaRPr sz="2400"/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Arial" panose="020B0604020202020204"/>
              </a:defRPr>
            </a:pPr>
            <a:r>
              <a:rPr sz="1800"/>
              <a:t>Nenhum estado é retido localmente na RAM das réplicas. Permite criar e destruir instâncias do serviço web instantaneamente em resposta ao tráfego.</a:t>
            </a:r>
            <a:endParaRPr sz="1800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4480560" y="1645920"/>
            <a:ext cx="320040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4663440" y="1920240"/>
            <a:ext cx="2834640" cy="2948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  <a:latin typeface="Arial" panose="020B0604020202020204"/>
              </a:defRPr>
            </a:pPr>
            <a:r>
              <a:rPr lang="pt-BR" sz="2400"/>
              <a:t>Stateful (</a:t>
            </a:r>
            <a:r>
              <a:rPr sz="2400"/>
              <a:t>Primary-Secondary</a:t>
            </a:r>
            <a:r>
              <a:rPr lang="pt-BR" sz="2400"/>
              <a:t>)</a:t>
            </a:r>
            <a:endParaRPr sz="2400"/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Arial" panose="020B0604020202020204"/>
              </a:defRPr>
            </a:pPr>
            <a:r>
              <a:rPr sz="1800"/>
              <a:t>O nó primário absorve todas as escritas de dados e replica-as para secundários. Útil para separar de forma robusta as cargas pesadas de leitura das leituras ativas.</a:t>
            </a:r>
            <a:endParaRPr sz="1800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8046720" y="1645920"/>
            <a:ext cx="3200400" cy="4114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8229600" y="1920240"/>
            <a:ext cx="2834640" cy="3225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172A"/>
                </a:solidFill>
                <a:latin typeface="Arial" panose="020B0604020202020204"/>
              </a:defRPr>
            </a:pPr>
            <a:r>
              <a:rPr lang="pt-BR" sz="2400"/>
              <a:t>Stateful (</a:t>
            </a:r>
            <a:r>
              <a:rPr sz="2400"/>
              <a:t>Multi-Primary</a:t>
            </a:r>
            <a:r>
              <a:rPr lang="pt-BR" sz="2400"/>
              <a:t>)</a:t>
            </a:r>
            <a:endParaRPr sz="2400"/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Arial" panose="020B0604020202020204"/>
              </a:defRPr>
            </a:pPr>
            <a:r>
              <a:rPr sz="1800"/>
              <a:t>Múltiplos nós podem aceitar escrita em simultâneo. Embora maximize a disponibilidade total, introduz complexidade em conflitos de consistência.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DESEMPENHO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Testes de carga (loadtest.py)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0" i="0">
                <a:solidFill>
                  <a:srgbClr val="555F6E"/>
                </a:solidFill>
                <a:latin typeface="Calibri" panose="020F0502020204030204"/>
              </a:rPr>
              <a:t>Dispara N requisições com M workers concorrentes contra POST /api/orders e mede latência, throughput e distribuição por réplica.</a:t>
            </a:r>
            <a:endParaRPr sz="16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1091672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04288"/>
            <a:ext cx="106070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0" i="0">
                <a:solidFill>
                  <a:srgbClr val="50FA7B"/>
                </a:solidFill>
                <a:latin typeface="Consolas" panose="020B0609020204030204"/>
              </a:rPr>
              <a:t>python loadtest.py -n 100 -c 10     # baseline</a:t>
            </a:r>
            <a:endParaRPr sz="1500" b="0" i="0">
              <a:solidFill>
                <a:srgbClr val="50FA7B"/>
              </a:solidFill>
              <a:latin typeface="Consolas" panose="020B0609020204030204"/>
            </a:endParaRPr>
          </a:p>
          <a:p>
            <a:pPr algn="l"/>
            <a:r>
              <a:rPr sz="1500" b="0" i="0">
                <a:solidFill>
                  <a:srgbClr val="50FA7B"/>
                </a:solidFill>
                <a:latin typeface="Consolas" panose="020B0609020204030204"/>
              </a:rPr>
              <a:t>python loadtest.py -n 500 -c 100    # stress</a:t>
            </a:r>
            <a:endParaRPr sz="1500" b="0" i="0">
              <a:solidFill>
                <a:srgbClr val="50FA7B"/>
              </a:solidFill>
              <a:latin typeface="Consolas" panose="020B0609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291840"/>
            <a:ext cx="54864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1F2A44"/>
                </a:solidFill>
                <a:latin typeface="Calibri" panose="020F0502020204030204"/>
              </a:rPr>
              <a:t>Métricas recolhidas</a:t>
            </a:r>
            <a:endParaRPr sz="16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486400" cy="22860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Latência: min, média, mediana, p95, p99, máx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Throughput (req/s) e taxa de sucesso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Distribuição de códigos HTTP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6DE"/>
                </a:solidFill>
                <a:latin typeface="Calibri" panose="020F0502020204030204"/>
              </a:rPr>
              <a:t>•  Contagem de respostas por instância</a:t>
            </a:r>
            <a:endParaRPr sz="15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09360" y="3291840"/>
            <a:ext cx="54864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1F2A44"/>
                </a:solidFill>
                <a:latin typeface="Calibri" panose="020F0502020204030204"/>
              </a:rPr>
              <a:t>Como ler os resultados</a:t>
            </a:r>
            <a:endParaRPr sz="16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0" y="3703320"/>
            <a:ext cx="5212080" cy="22860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Erros / não-200 → saturação de workers ou timeouts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Throughput em plateau → atingiu o gargalo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44"/>
                </a:solidFill>
                <a:latin typeface="Calibri" panose="020F0502020204030204"/>
              </a:rPr>
              <a:t>•  p95/p99 &gt;&gt; mediana → latência de cauda</a:t>
            </a:r>
            <a:endParaRPr sz="15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7AE60"/>
                </a:solidFill>
                <a:latin typeface="Calibri" panose="020F0502020204030204"/>
              </a:rPr>
              <a:t>•  3 réplicas com contagens ~iguais → round-robin OK</a:t>
            </a:r>
            <a:endParaRPr sz="1500" b="0" i="0">
              <a:solidFill>
                <a:srgbClr val="27AE6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54864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 panose="020B0604020202020204"/>
              </a:defRPr>
            </a:pPr>
            <a:r>
              <a:t>Stateless vs. Stateful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98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4F46E5"/>
                </a:solidFill>
                <a:latin typeface="Arial" panose="020B0604020202020204"/>
              </a:defRPr>
            </a:pPr>
            <a:r>
              <a:rPr sz="2800"/>
              <a:t>Sistemas Stateless (Sem Estado)</a:t>
            </a:r>
            <a:endParaRPr sz="2800"/>
          </a:p>
          <a:p>
            <a:pPr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rPr sz="1800"/>
              <a:t>Nenhuma informação histórica ou estado de sessão é retida diretamente no servidor de aplicação local.</a:t>
            </a:r>
            <a:br>
              <a:rPr sz="1800"/>
            </a:br>
            <a:br>
              <a:rPr sz="1800"/>
            </a:br>
            <a:r>
              <a:rPr sz="1800"/>
              <a:t>Cada requisição é isolada e auto-contida. Isto permite um auto-escalamento horizontal excelente e transparente, bastando validar assinaturas criptográficas como JWT (JSON Web Tokens).</a:t>
            </a:r>
            <a:endParaRPr sz="1800"/>
          </a:p>
          <a:p>
            <a:pPr>
              <a:defRPr sz="1500">
                <a:solidFill>
                  <a:srgbClr val="475569"/>
                </a:solidFill>
                <a:latin typeface="Arial" panose="020B0604020202020204"/>
              </a:defRPr>
            </a:pPr>
            <a:endParaRPr sz="1800"/>
          </a:p>
          <a:p>
            <a:pPr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rPr lang="en-US" altLang="pt-BR" sz="1800"/>
              <a:t>Escalabilidade M</a:t>
            </a:r>
            <a:r>
              <a:rPr lang="en-US" altLang="en-US" sz="1800"/>
              <a:t>á</a:t>
            </a:r>
            <a:r>
              <a:rPr lang="en-US" altLang="pt-BR" sz="1800"/>
              <a:t>xima. Podes escalar horizontalmente at</a:t>
            </a:r>
            <a:r>
              <a:rPr lang="en-US" altLang="en-US" sz="1800"/>
              <a:t>é</a:t>
            </a:r>
            <a:r>
              <a:rPr lang="en-US" altLang="pt-BR" sz="1800"/>
              <a:t> ao infinito de forma autom</a:t>
            </a:r>
            <a:r>
              <a:rPr lang="en-US" altLang="en-US" sz="1800"/>
              <a:t>á</a:t>
            </a:r>
            <a:r>
              <a:rPr lang="en-US" altLang="pt-BR" sz="1800"/>
              <a:t>tica (autoscaling), porque qualquer servidor serve para qualquer utilizador.</a:t>
            </a:r>
            <a:endParaRPr lang="en-US" altLang="pt-BR" sz="1800"/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4846320" cy="3322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F172A"/>
                </a:solidFill>
                <a:latin typeface="Arial" panose="020B0604020202020204"/>
              </a:defRPr>
            </a:pPr>
            <a:r>
              <a:rPr sz="2800"/>
              <a:t>Sistemas Stateful (Com Estado)</a:t>
            </a:r>
            <a:endParaRPr sz="2800"/>
          </a:p>
          <a:p>
            <a:pPr>
              <a:defRPr sz="1500">
                <a:solidFill>
                  <a:srgbClr val="475569"/>
                </a:solidFill>
                <a:latin typeface="Arial" panose="020B0604020202020204"/>
              </a:defRPr>
            </a:pPr>
            <a:r>
              <a:rPr sz="1800"/>
              <a:t>O servidor depende de estados ou históricos armazenados localmente (como sessões locais em memória ou carrinhos de compras).</a:t>
            </a:r>
            <a:br>
              <a:rPr sz="1800"/>
            </a:br>
            <a:br>
              <a:rPr sz="1800"/>
            </a:br>
            <a:r>
              <a:rPr sz="1800"/>
              <a:t>Para viabilizar a escala de sistemas stateful, externaliza-se o estado local para base de dados distribuídas ultrarrápidas em memória (como Redis ou Memcached).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54864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 panose="020B0604020202020204"/>
              </a:defRPr>
            </a:pPr>
            <a:r>
              <a:t>Gargalos em Sistemas Distribuídos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723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0F172A"/>
                </a:solidFill>
                <a:latin typeface="Arial" panose="020B0604020202020204"/>
              </a:defRPr>
            </a:pPr>
            <a:r>
              <a:rPr sz="2400"/>
              <a:t>•  Base de Dados Relacional: </a:t>
            </a:r>
            <a:r>
              <a:rPr sz="2000" b="0">
                <a:solidFill>
                  <a:srgbClr val="475569"/>
                </a:solidFill>
                <a:latin typeface="Arial" panose="020B0604020202020204"/>
              </a:rPr>
              <a:t>Bases SQL centralizadas tornam-se estrangulamentos por contenção de conexões e retenção de locks em escritas massivas.</a:t>
            </a:r>
            <a:endParaRPr sz="2000" b="0">
              <a:solidFill>
                <a:srgbClr val="475569"/>
              </a:solidFill>
              <a:latin typeface="Arial" panose="020B0604020202020204"/>
            </a:endParaRPr>
          </a:p>
          <a:p>
            <a:pPr>
              <a:spcAft>
                <a:spcPts val="1600"/>
              </a:spcAft>
              <a:defRPr sz="1600" b="1">
                <a:solidFill>
                  <a:srgbClr val="0F172A"/>
                </a:solidFill>
                <a:latin typeface="Arial" panose="020B0604020202020204"/>
              </a:defRPr>
            </a:pPr>
            <a:r>
              <a:rPr sz="2400"/>
              <a:t>•  Latência de Rede e Chamadas RPC: </a:t>
            </a:r>
            <a:r>
              <a:rPr sz="2000" b="0">
                <a:solidFill>
                  <a:srgbClr val="475569"/>
                </a:solidFill>
                <a:latin typeface="Arial" panose="020B0604020202020204"/>
              </a:rPr>
              <a:t>A excessiva comunicação síncrona entre dezenas de microsserviços por rede deteriora a latência geral de ponta a ponta.</a:t>
            </a:r>
            <a:endParaRPr sz="2000" b="0">
              <a:solidFill>
                <a:srgbClr val="475569"/>
              </a:solidFill>
              <a:latin typeface="Arial" panose="020B0604020202020204"/>
            </a:endParaRPr>
          </a:p>
          <a:p>
            <a:pPr>
              <a:spcAft>
                <a:spcPts val="1600"/>
              </a:spcAft>
              <a:defRPr sz="1600" b="1">
                <a:solidFill>
                  <a:srgbClr val="0F172A"/>
                </a:solidFill>
                <a:latin typeface="Arial" panose="020B0604020202020204"/>
              </a:defRPr>
            </a:pPr>
            <a:r>
              <a:rPr sz="2400"/>
              <a:t>•  Sincronização e Locks Distribuídos: </a:t>
            </a:r>
            <a:r>
              <a:rPr sz="2000" b="0">
                <a:solidFill>
                  <a:srgbClr val="475569"/>
                </a:solidFill>
                <a:latin typeface="Arial" panose="020B0604020202020204"/>
              </a:rPr>
              <a:t>O bloqueio de recursos globais e partilhados entre múltiplos nós força a contenção de concorrência, reduzindo o paralelismo.</a:t>
            </a:r>
            <a:endParaRPr sz="2000" b="0">
              <a:solidFill>
                <a:srgbClr val="475569"/>
              </a:solidFill>
              <a:latin typeface="Arial" panose="020B0604020202020204"/>
            </a:endParaRPr>
          </a:p>
          <a:p>
            <a:pPr>
              <a:spcAft>
                <a:spcPts val="1600"/>
              </a:spcAft>
              <a:defRPr sz="1600" b="1">
                <a:solidFill>
                  <a:srgbClr val="0F172A"/>
                </a:solidFill>
                <a:latin typeface="Arial" panose="020B0604020202020204"/>
              </a:defRPr>
            </a:pPr>
            <a:r>
              <a:rPr sz="2400"/>
              <a:t>•  O Teorema de CAP: </a:t>
            </a:r>
            <a:r>
              <a:rPr sz="2000" b="0">
                <a:solidFill>
                  <a:srgbClr val="475569"/>
                </a:solidFill>
                <a:latin typeface="Arial" panose="020B0604020202020204"/>
              </a:rPr>
              <a:t>As inevitáveis barreiras de consistência vs. disponibilidade durante partições de rede que afetam diretamente o comportamento geral do sistema.</a:t>
            </a:r>
            <a:endParaRPr sz="2000" b="0">
              <a:solidFill>
                <a:srgbClr val="47556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SEGURANÇA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Camadas de defesa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0" y="141732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417320"/>
            <a:ext cx="3227832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72184"/>
            <a:ext cx="3749039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 panose="020F0502020204030204"/>
              </a:rPr>
              <a:t>Risco / Camada</a:t>
            </a:r>
            <a:endParaRPr sz="1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17720" y="1472184"/>
            <a:ext cx="3749039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 panose="020F0502020204030204"/>
              </a:rPr>
              <a:t>Mecanismo</a:t>
            </a:r>
            <a:endParaRPr sz="1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49640" y="1472184"/>
            <a:ext cx="3044951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 panose="020F0502020204030204"/>
              </a:rPr>
              <a:t>Onde</a:t>
            </a:r>
            <a:endParaRPr sz="1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1874520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65960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 panose="020F0502020204030204"/>
              </a:rPr>
              <a:t>Autenticação do cliente</a:t>
            </a:r>
            <a:endParaRPr sz="14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17720" y="1965960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JWT HS256 com expiração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49640" y="1965960"/>
            <a:ext cx="301752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2E86DE"/>
                </a:solidFill>
                <a:latin typeface="Calibri" panose="020F0502020204030204"/>
              </a:rPr>
              <a:t>Auth emite · Gateway valida</a:t>
            </a:r>
            <a:endParaRPr sz="1400" b="0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8640" y="2441448"/>
            <a:ext cx="11091672" cy="566928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532888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 panose="020F0502020204030204"/>
              </a:rPr>
              <a:t>Credenciais</a:t>
            </a:r>
            <a:endParaRPr sz="14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17720" y="2532888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Hash de password (werkzeug)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49640" y="2532888"/>
            <a:ext cx="301752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2E86DE"/>
                </a:solidFill>
                <a:latin typeface="Calibri" panose="020F0502020204030204"/>
              </a:rPr>
              <a:t>Auth Service</a:t>
            </a:r>
            <a:endParaRPr sz="1400" b="0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8640" y="3008376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99816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 panose="020F0502020204030204"/>
              </a:rPr>
              <a:t>Serviço-a-serviço</a:t>
            </a:r>
            <a:endParaRPr sz="14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17720" y="3099816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X-Internal-Token partilhado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549640" y="3099816"/>
            <a:ext cx="301752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2E86DE"/>
                </a:solidFill>
                <a:latin typeface="Calibri" panose="020F0502020204030204"/>
              </a:rPr>
              <a:t>Order &amp; Payment</a:t>
            </a:r>
            <a:endParaRPr sz="1400" b="0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48640" y="3575304"/>
            <a:ext cx="11091672" cy="566928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666744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 panose="020F0502020204030204"/>
              </a:rPr>
              <a:t>Abuso / brute force</a:t>
            </a:r>
            <a:endParaRPr sz="14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617720" y="3666744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Rate limiting (Flask-Limiter)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549640" y="3666744"/>
            <a:ext cx="301752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2E86DE"/>
                </a:solidFill>
                <a:latin typeface="Calibri" panose="020F0502020204030204"/>
              </a:rPr>
              <a:t>Gateway</a:t>
            </a:r>
            <a:endParaRPr sz="1400" b="0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48640" y="4142232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33672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 panose="020F0502020204030204"/>
              </a:rPr>
              <a:t>Hardening HTTP</a:t>
            </a:r>
            <a:endParaRPr sz="14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617720" y="4233672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Security headers + CORS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549640" y="4233672"/>
            <a:ext cx="301752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2E86DE"/>
                </a:solidFill>
                <a:latin typeface="Calibri" panose="020F0502020204030204"/>
              </a:rPr>
              <a:t>Gateway</a:t>
            </a:r>
            <a:endParaRPr sz="1400" b="0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48640" y="4709160"/>
            <a:ext cx="11091672" cy="566928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800600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 panose="020F0502020204030204"/>
              </a:rPr>
              <a:t>Entrada maliciosa</a:t>
            </a:r>
            <a:endParaRPr sz="14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617720" y="4800600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Validação + MAX_CONTENT_LENGTH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549640" y="4800600"/>
            <a:ext cx="301752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2E86DE"/>
                </a:solidFill>
                <a:latin typeface="Calibri" panose="020F0502020204030204"/>
              </a:rPr>
              <a:t>Gateway</a:t>
            </a:r>
            <a:endParaRPr sz="1400" b="0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48640" y="5276088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367528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1" i="0">
                <a:solidFill>
                  <a:srgbClr val="1F2A44"/>
                </a:solidFill>
                <a:latin typeface="Calibri" panose="020F0502020204030204"/>
              </a:rPr>
              <a:t>Duplicação sob retry</a:t>
            </a:r>
            <a:endParaRPr sz="14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617720" y="5367528"/>
            <a:ext cx="3749039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Idempotency-Key + Postgres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549640" y="5367528"/>
            <a:ext cx="301752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400" b="0" i="0">
                <a:solidFill>
                  <a:srgbClr val="2E86DE"/>
                </a:solidFill>
                <a:latin typeface="Calibri" panose="020F0502020204030204"/>
              </a:rPr>
              <a:t>Order Service</a:t>
            </a:r>
            <a:endParaRPr sz="1400" b="0" i="0">
              <a:solidFill>
                <a:srgbClr val="2E86D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SEGURANÇA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Fluxo de autenticação (JWT + token interno)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77724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1"/>
            <a:ext cx="77724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sz="2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463040" y="1508760"/>
            <a:ext cx="10177272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581912"/>
            <a:ext cx="987552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1F2A44"/>
                </a:solidFill>
                <a:latin typeface="Calibri" panose="020F0502020204030204"/>
              </a:rPr>
              <a:t>Cliente → Auth  —  </a:t>
            </a:r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POST /auth/token com username/password. Password verificada contra hash.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48640" y="2441448"/>
            <a:ext cx="777240" cy="777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77724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sz="2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63040" y="2441448"/>
            <a:ext cx="10177272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2514600"/>
            <a:ext cx="987552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2E86DE"/>
                </a:solidFill>
                <a:latin typeface="Calibri" panose="020F0502020204030204"/>
              </a:rPr>
              <a:t>Auth → Cliente  —  </a:t>
            </a:r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Devolve JWT assinado (HS256) com expiração configurável.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3374136"/>
            <a:ext cx="77724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538728"/>
            <a:ext cx="77724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sz="2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63040" y="3374136"/>
            <a:ext cx="10177272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3447288"/>
            <a:ext cx="987552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1F2A44"/>
                </a:solidFill>
                <a:latin typeface="Calibri" panose="020F0502020204030204"/>
              </a:rPr>
              <a:t>Cliente → Gateway  —  </a:t>
            </a:r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POST /api/orders com Authorization: Bearer &lt;JWT&gt;. Gateway valida assinatura e expiração.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48640" y="4306824"/>
            <a:ext cx="777240" cy="777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71416"/>
            <a:ext cx="77724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 panose="020F0502020204030204"/>
              </a:rPr>
              <a:t>4</a:t>
            </a:r>
            <a:endParaRPr sz="2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63040" y="4306824"/>
            <a:ext cx="10177272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4379976"/>
            <a:ext cx="987552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2E86DE"/>
                </a:solidFill>
                <a:latin typeface="Calibri" panose="020F0502020204030204"/>
              </a:rPr>
              <a:t>Gateway → Order  —  </a:t>
            </a:r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Injeta X-Internal-Token. Order só aceita chamadas com o token interno correto (403 caso contrário).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48640" y="5239512"/>
            <a:ext cx="77724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404104"/>
            <a:ext cx="77724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 panose="020F0502020204030204"/>
              </a:rPr>
              <a:t>5</a:t>
            </a:r>
            <a:endParaRPr sz="2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463040" y="5239512"/>
            <a:ext cx="10177272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5312664"/>
            <a:ext cx="987552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1F2A44"/>
                </a:solidFill>
                <a:latin typeface="Calibri" panose="020F0502020204030204"/>
              </a:rPr>
              <a:t>Order → Payment  —  </a:t>
            </a:r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Mesma autenticação interna entre Order e Payment. Rede fechada ao exterior.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QUALIDADE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Testes automatizados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492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49240" cy="59436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/>
              </a:rPr>
              <a:t>Unitários</a:t>
            </a:r>
            <a:endParaRPr sz="18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4937760" cy="329184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55F6E"/>
                </a:solidFill>
                <a:latin typeface="Consolas" panose="020B0609020204030204"/>
              </a:rPr>
              <a:t>tests/test_order_service.py</a:t>
            </a:r>
            <a:endParaRPr sz="1300" b="0" i="0">
              <a:solidFill>
                <a:srgbClr val="555F6E"/>
              </a:solidFill>
              <a:latin typeface="Consolas" panose="020B0609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Mock de _call_payment + SQLite em memória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Pagamento aprovado / rejeitado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Falha do pagamento → UNKNOWN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Token interno em falta / errado → 403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1000"/>
              </a:spcBef>
            </a:pPr>
            <a:r>
              <a:rPr sz="1300" b="0" i="1">
                <a:solidFill>
                  <a:srgbClr val="2E86DE"/>
                </a:solidFill>
                <a:latin typeface="Calibri" panose="020F0502020204030204"/>
              </a:rPr>
              <a:t>Rápidos, sem servidores a correr</a:t>
            </a:r>
            <a:endParaRPr sz="1300" b="0" i="1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3492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5349240" cy="59436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5029200" cy="457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 panose="020F0502020204030204"/>
              </a:rPr>
              <a:t>Integração</a:t>
            </a:r>
            <a:endParaRPr sz="18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4937760" cy="329184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55F6E"/>
                </a:solidFill>
                <a:latin typeface="Consolas" panose="020B0609020204030204"/>
              </a:rPr>
              <a:t>tests/test_integration.py</a:t>
            </a:r>
            <a:endParaRPr sz="1300" b="0" i="0">
              <a:solidFill>
                <a:srgbClr val="555F6E"/>
              </a:solidFill>
              <a:latin typeface="Consolas" panose="020B0609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HTTP real contra a stack (docker compose up)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Fluxo completo aprovado / rejeitado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Sem token / token inválido → 401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Cabeçalhos de segurança presentes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•  Idempotência (mesma key → mesmo pedido)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  <a:p>
            <a:pPr algn="l">
              <a:spcBef>
                <a:spcPts val="1000"/>
              </a:spcBef>
            </a:pPr>
            <a:r>
              <a:rPr sz="1300" b="0" i="1">
                <a:solidFill>
                  <a:srgbClr val="27AE60"/>
                </a:solidFill>
                <a:latin typeface="Calibri" panose="020F0502020204030204"/>
              </a:rPr>
              <a:t>Validam o sistema ponta-a-ponta</a:t>
            </a:r>
            <a:endParaRPr sz="1300" b="0" i="1">
              <a:solidFill>
                <a:srgbClr val="27AE6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300" b="1" i="0">
                <a:solidFill>
                  <a:srgbClr val="2E86DE"/>
                </a:solidFill>
                <a:latin typeface="Calibri" panose="020F0502020204030204"/>
              </a:rPr>
              <a:t>ANÁLISE</a:t>
            </a:r>
            <a:endParaRPr sz="1300" b="1" i="0">
              <a:solidFill>
                <a:srgbClr val="2E86D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Monólito vs Microserviços escalados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377440" cy="5029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26080" y="1463040"/>
            <a:ext cx="4297680" cy="502920"/>
          </a:xfrm>
          <a:prstGeom prst="rect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1463040"/>
            <a:ext cx="4416552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36192"/>
            <a:ext cx="219456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 panose="020F0502020204030204"/>
              </a:rPr>
              <a:t>Critério</a:t>
            </a:r>
            <a:endParaRPr sz="15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63240" y="1536192"/>
            <a:ext cx="4114800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 panose="020F0502020204030204"/>
              </a:rPr>
              <a:t>Monólito (1 processo)</a:t>
            </a:r>
            <a:endParaRPr sz="15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60920" y="1536192"/>
            <a:ext cx="4233672" cy="3657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 panose="020F0502020204030204"/>
              </a:rPr>
              <a:t>Microserviços escalados</a:t>
            </a:r>
            <a:endParaRPr sz="15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23774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26080" y="1965960"/>
            <a:ext cx="4297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1965960"/>
            <a:ext cx="4416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75688"/>
            <a:ext cx="219456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500" b="1" i="0">
                <a:solidFill>
                  <a:srgbClr val="1F2A44"/>
                </a:solidFill>
                <a:latin typeface="Calibri" panose="020F0502020204030204"/>
              </a:rPr>
              <a:t>Escalabilidade</a:t>
            </a:r>
            <a:endParaRPr sz="15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63240" y="2075688"/>
            <a:ext cx="406908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Só escala verticalmente; limitada ao processo único.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60920" y="2075688"/>
            <a:ext cx="416052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Cada serviço escala de forma independente.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2377440" cy="960120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6080" y="2926080"/>
            <a:ext cx="4297680" cy="960120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23760" y="2926080"/>
            <a:ext cx="4416552" cy="960120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35808"/>
            <a:ext cx="219456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500" b="1" i="0">
                <a:solidFill>
                  <a:srgbClr val="1F2A44"/>
                </a:solidFill>
                <a:latin typeface="Calibri" panose="020F0502020204030204"/>
              </a:rPr>
              <a:t>Complexidade</a:t>
            </a:r>
            <a:endParaRPr sz="15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063240" y="3035808"/>
            <a:ext cx="406908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Muito baixa: um deploy, um log.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60920" y="3035808"/>
            <a:ext cx="416052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Maior: réplicas, balanceador, Postgres, idempotência.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48640" y="3886200"/>
            <a:ext cx="23774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0" y="3886200"/>
            <a:ext cx="4297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23760" y="3886200"/>
            <a:ext cx="4416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95928"/>
            <a:ext cx="219456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500" b="1" i="0">
                <a:solidFill>
                  <a:srgbClr val="1F2A44"/>
                </a:solidFill>
                <a:latin typeface="Calibri" panose="020F0502020204030204"/>
              </a:rPr>
              <a:t>Performance</a:t>
            </a:r>
            <a:endParaRPr sz="15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63240" y="3995928"/>
            <a:ext cx="406908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Boa em baixa carga; cai quando o pagamento bloqueia.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360920" y="3995928"/>
            <a:ext cx="416052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Throughput agregado maior; melhor p95/p99 sob carga.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48640" y="4846320"/>
            <a:ext cx="2377440" cy="960120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26080" y="4846320"/>
            <a:ext cx="4297680" cy="960120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4846320"/>
            <a:ext cx="4416552" cy="960120"/>
          </a:xfrm>
          <a:prstGeom prst="rect">
            <a:avLst/>
          </a:prstGeom>
          <a:solidFill>
            <a:srgbClr val="ECF1F7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56048"/>
            <a:ext cx="219456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500" b="1" i="0">
                <a:solidFill>
                  <a:srgbClr val="1F2A44"/>
                </a:solidFill>
                <a:latin typeface="Calibri" panose="020F0502020204030204"/>
              </a:rPr>
              <a:t>Resiliência</a:t>
            </a:r>
            <a:endParaRPr sz="1500" b="1" i="0">
              <a:solidFill>
                <a:srgbClr val="1F2A44"/>
              </a:solidFill>
              <a:latin typeface="Calibri" panose="020F050202020403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63240" y="4956048"/>
            <a:ext cx="406908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555F6E"/>
                </a:solidFill>
                <a:latin typeface="Calibri" panose="020F0502020204030204"/>
              </a:rPr>
              <a:t>Frágil: uma falha derruba tudo.</a:t>
            </a:r>
            <a:endParaRPr sz="1400" b="0" i="0">
              <a:solidFill>
                <a:srgbClr val="555F6E"/>
              </a:solidFill>
              <a:latin typeface="Calibri" panose="020F050202020403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360920" y="4956048"/>
            <a:ext cx="4160520" cy="960120"/>
          </a:xfrm>
          <a:prstGeom prst="rect">
            <a:avLst/>
          </a:prstGeom>
          <a:noFill/>
        </p:spPr>
        <p:txBody>
          <a:bodyPr wrap="square" lIns="50800" rIns="50800" anchor="ctr">
            <a:spAutoFit/>
          </a:bodyPr>
          <a:lstStyle/>
          <a:p>
            <a:pPr algn="l"/>
            <a:r>
              <a:rPr sz="1400" b="0" i="0">
                <a:solidFill>
                  <a:srgbClr val="1F2A44"/>
                </a:solidFill>
                <a:latin typeface="Calibri" panose="020F0502020204030204"/>
              </a:rPr>
              <a:t>Retry reencaminha; queda de uma réplica não derruba.</a:t>
            </a:r>
            <a:endParaRPr sz="1400" b="0" i="0">
              <a:solidFill>
                <a:srgbClr val="1F2A44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 panose="020F0502020204030204"/>
              </a:rPr>
              <a:t>Conclusão</a:t>
            </a:r>
            <a:endParaRPr sz="3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82296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800" b="0" i="0">
                <a:solidFill>
                  <a:srgbClr val="C9D3E3"/>
                </a:solidFill>
                <a:latin typeface="Calibri" panose="020F0502020204030204"/>
              </a:rPr>
              <a:t>Cada intervenção resolveu um gargalo concreto — escala e segurança construídas de forma incremental.</a:t>
            </a:r>
            <a:endParaRPr sz="18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5074920" cy="822960"/>
          </a:xfrm>
          <a:prstGeom prst="rect">
            <a:avLst/>
          </a:prstGeom>
          <a:solidFill>
            <a:srgbClr val="2A3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75488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Gunicorn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300" b="0" i="0">
                <a:solidFill>
                  <a:srgbClr val="C9D3E3"/>
                </a:solidFill>
                <a:latin typeface="Calibri" panose="020F0502020204030204"/>
              </a:rPr>
              <a:t>deixar de servir requisições uma a uma</a:t>
            </a:r>
            <a:endParaRPr sz="13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3246120"/>
            <a:ext cx="5074920" cy="822960"/>
          </a:xfrm>
          <a:prstGeom prst="rect">
            <a:avLst/>
          </a:prstGeom>
          <a:solidFill>
            <a:srgbClr val="2A3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475488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Postgres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300" b="0" i="0">
                <a:solidFill>
                  <a:srgbClr val="C9D3E3"/>
                </a:solidFill>
                <a:latin typeface="Calibri" panose="020F0502020204030204"/>
              </a:rPr>
              <a:t>tirar o estado de memória, remover corridas</a:t>
            </a:r>
            <a:endParaRPr sz="13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06240"/>
            <a:ext cx="5074920" cy="822960"/>
          </a:xfrm>
          <a:prstGeom prst="rect">
            <a:avLst/>
          </a:prstGeom>
          <a:solidFill>
            <a:srgbClr val="2A3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79"/>
            <a:ext cx="475488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Round-robin + réplicas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300" b="0" i="0">
                <a:solidFill>
                  <a:srgbClr val="C9D3E3"/>
                </a:solidFill>
                <a:latin typeface="Calibri" panose="020F0502020204030204"/>
              </a:rPr>
              <a:t>deixar de ter um ponto único de pagamento</a:t>
            </a:r>
            <a:endParaRPr sz="13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31520" y="5166360"/>
            <a:ext cx="5074920" cy="822960"/>
          </a:xfrm>
          <a:prstGeom prst="rect">
            <a:avLst/>
          </a:prstGeom>
          <a:solidFill>
            <a:srgbClr val="2A3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475488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Timeout + retries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300" b="0" i="0">
                <a:solidFill>
                  <a:srgbClr val="C9D3E3"/>
                </a:solidFill>
                <a:latin typeface="Calibri" panose="020F0502020204030204"/>
              </a:rPr>
              <a:t>não propagar lentidão nem falhas ao cliente</a:t>
            </a:r>
            <a:endParaRPr sz="13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355080" y="2286000"/>
            <a:ext cx="5074920" cy="822960"/>
          </a:xfrm>
          <a:prstGeom prst="rect">
            <a:avLst/>
          </a:prstGeom>
          <a:solidFill>
            <a:srgbClr val="2A3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77440"/>
            <a:ext cx="475488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Idempotência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300" b="0" i="0">
                <a:solidFill>
                  <a:srgbClr val="C9D3E3"/>
                </a:solidFill>
                <a:latin typeface="Calibri" panose="020F0502020204030204"/>
              </a:rPr>
              <a:t>retries não duplicam pedidos</a:t>
            </a:r>
            <a:endParaRPr sz="13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55080" y="3246120"/>
            <a:ext cx="5074920" cy="822960"/>
          </a:xfrm>
          <a:prstGeom prst="rect">
            <a:avLst/>
          </a:prstGeom>
          <a:solidFill>
            <a:srgbClr val="2A3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337560"/>
            <a:ext cx="475488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JWT + token interno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300" b="0" i="0">
                <a:solidFill>
                  <a:srgbClr val="C9D3E3"/>
                </a:solidFill>
                <a:latin typeface="Calibri" panose="020F0502020204030204"/>
              </a:rPr>
              <a:t>autenticar cliente e blindar a rede interna</a:t>
            </a:r>
            <a:endParaRPr sz="13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55080" y="4206240"/>
            <a:ext cx="5074920" cy="822960"/>
          </a:xfrm>
          <a:prstGeom prst="rect">
            <a:avLst/>
          </a:prstGeom>
          <a:solidFill>
            <a:srgbClr val="2A3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297679"/>
            <a:ext cx="4754880" cy="685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600" b="1" i="0">
                <a:solidFill>
                  <a:srgbClr val="2E86DE"/>
                </a:solidFill>
                <a:latin typeface="Calibri" panose="020F0502020204030204"/>
              </a:rPr>
              <a:t>Rate limit + headers</a:t>
            </a:r>
            <a:endParaRPr sz="1600" b="1" i="0">
              <a:solidFill>
                <a:srgbClr val="2E86DE"/>
              </a:solidFill>
              <a:latin typeface="Calibri" panose="020F0502020204030204"/>
            </a:endParaRPr>
          </a:p>
          <a:p>
            <a:pPr algn="l"/>
            <a:r>
              <a:rPr sz="1300" b="0" i="0">
                <a:solidFill>
                  <a:srgbClr val="C9D3E3"/>
                </a:solidFill>
                <a:latin typeface="Calibri" panose="020F0502020204030204"/>
              </a:rPr>
              <a:t>mitigar abuso e endurecer o HTTP</a:t>
            </a:r>
            <a:endParaRPr sz="1300" b="0" i="0">
              <a:solidFill>
                <a:srgbClr val="C9D3E3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55080" y="6172200"/>
            <a:ext cx="5074920" cy="54864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 algn="l"/>
            <a:r>
              <a:rPr sz="1250" b="0" i="1">
                <a:solidFill>
                  <a:srgbClr val="555F6E"/>
                </a:solidFill>
                <a:latin typeface="Calibri" panose="020F0502020204030204"/>
              </a:rPr>
              <a:t>Próximo gargalo: a base de dados (nó vertical) e o balanceador embutido — passos naturais: nginx/HAProxy + réplicas de DB.</a:t>
            </a:r>
            <a:endParaRPr sz="1250" b="0" i="1">
              <a:solidFill>
                <a:srgbClr val="555F6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5.6,&quot;left&quot;:72,&quot;top&quot;:129.6,&quot;width&quot;:829.25}"/>
</p:tagLst>
</file>

<file path=ppt/tags/tag2.xml><?xml version="1.0" encoding="utf-8"?>
<p:tagLst xmlns:p="http://schemas.openxmlformats.org/presentationml/2006/main">
  <p:tag name="KSO_WM_DIAGRAM_VIRTUALLY_FRAME" val="{&quot;height&quot;:345.6,&quot;left&quot;:72,&quot;top&quot;:129.6,&quot;width&quot;:829.25}"/>
</p:tagLst>
</file>

<file path=ppt/tags/tag3.xml><?xml version="1.0" encoding="utf-8"?>
<p:tagLst xmlns:p="http://schemas.openxmlformats.org/presentationml/2006/main">
  <p:tag name="KSO_WM_DIAGRAM_VIRTUALLY_FRAME" val="{&quot;height&quot;:345.6,&quot;left&quot;:183.05,&quot;top&quot;:129.6,&quot;width&quot;:653.9}"/>
</p:tagLst>
</file>

<file path=ppt/tags/tag4.xml><?xml version="1.0" encoding="utf-8"?>
<p:tagLst xmlns:p="http://schemas.openxmlformats.org/presentationml/2006/main">
  <p:tag name="KSO_WM_DIAGRAM_VIRTUALLY_FRAME" val="{&quot;height&quot;:345.6,&quot;left&quot;:183.05,&quot;top&quot;:129.6,&quot;width&quot;:653.9}"/>
</p:tagLst>
</file>

<file path=ppt/tags/tag5.xml><?xml version="1.0" encoding="utf-8"?>
<p:tagLst xmlns:p="http://schemas.openxmlformats.org/presentationml/2006/main">
  <p:tag name="KSO_WM_DIAGRAM_VIRTUALLY_FRAME" val="{&quot;height&quot;:324,&quot;left&quot;:72,&quot;top&quot;:129.6,&quot;width&quot;:813.6}"/>
</p:tagLst>
</file>

<file path=ppt/tags/tag6.xml><?xml version="1.0" encoding="utf-8"?>
<p:tagLst xmlns:p="http://schemas.openxmlformats.org/presentationml/2006/main">
  <p:tag name="KSO_WM_DIAGRAM_VIRTUALLY_FRAME" val="{&quot;height&quot;:324,&quot;left&quot;:72,&quot;top&quot;:129.6,&quot;width&quot;:813.6}"/>
</p:tagLst>
</file>

<file path=ppt/tags/tag7.xml><?xml version="1.0" encoding="utf-8"?>
<p:tagLst xmlns:p="http://schemas.openxmlformats.org/presentationml/2006/main">
  <p:tag name="KSO_WM_DIAGRAM_VIRTUALLY_FRAME" val="{&quot;height&quot;:324,&quot;left&quot;:72,&quot;top&quot;:129.6,&quot;width&quot;:813.6}"/>
</p:tagLst>
</file>

<file path=ppt/tags/tag8.xml><?xml version="1.0" encoding="utf-8"?>
<p:tagLst xmlns:p="http://schemas.openxmlformats.org/presentationml/2006/main">
  <p:tag name="KSO_WM_DIAGRAM_VIRTUALLY_FRAME" val="{&quot;height&quot;:324,&quot;left&quot;:72,&quot;top&quot;:129.6,&quot;width&quot;:813.6}"/>
</p:tagLst>
</file>

<file path=ppt/tags/tag9.xml><?xml version="1.0" encoding="utf-8"?>
<p:tagLst xmlns:p="http://schemas.openxmlformats.org/presentationml/2006/main">
  <p:tag name="KSO_WM_DIAGRAM_VIRTUALLY_FRAME" val="{&quot;height&quot;:324,&quot;left&quot;:72,&quot;top&quot;:129.6,&quot;width&quot;:813.6}"/>
</p:tagLst>
</file>

<file path=ppt/tags/tag10.xml><?xml version="1.0" encoding="utf-8"?>
<p:tagLst xmlns:p="http://schemas.openxmlformats.org/presentationml/2006/main">
  <p:tag name="KSO_WM_DIAGRAM_VIRTUALLY_FRAME" val="{&quot;height&quot;:324,&quot;left&quot;:72,&quot;top&quot;:129.6,&quot;width&quot;:813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9658</Words>
  <Application>WPS Presentation</Application>
  <PresentationFormat>On-screen Show (4:3)</PresentationFormat>
  <Paragraphs>349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8" baseType="lpstr">
      <vt:lpstr>Arial</vt:lpstr>
      <vt:lpstr>SimSun</vt:lpstr>
      <vt:lpstr>Wingdings</vt:lpstr>
      <vt:lpstr>Arial</vt:lpstr>
      <vt:lpstr>Calibri</vt:lpstr>
      <vt:lpstr>Consolas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lf714</cp:lastModifiedBy>
  <cp:revision>2</cp:revision>
  <dcterms:created xsi:type="dcterms:W3CDTF">2013-01-27T09:14:00Z</dcterms:created>
  <dcterms:modified xsi:type="dcterms:W3CDTF">2026-06-11T18:54:54Z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DD268671029146B693FDDF4C15ACA206_12</vt:lpwstr>
  </property>
  <property fmtid="{D5CDD505-2E9C-101B-9397-08002B2CF9AE}" pid="3" name="KSOProductBuildVer">
    <vt:lpwstr>1046-12.2.0.23202</vt:lpwstr>
  </property>
</Properties>
</file>